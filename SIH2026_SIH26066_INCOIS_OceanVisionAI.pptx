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_rI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926080" cy="138225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9326880" cy="8046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8595360" cy="7498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7B6"/>
                </a:solidFill>
                <a:latin typeface="Calibri"/>
              </a:defRPr>
            </a:pPr>
            <a:r>
              <a:t>SMART INDIA HACKATHON 2026 • SOFTWARE EDITION</a:t>
            </a:r>
          </a:p>
          <a:p>
            <a:pPr>
              <a:spcAft>
                <a:spcPts val="1400"/>
              </a:spcAft>
              <a:defRPr sz="2600" b="1">
                <a:solidFill>
                  <a:srgbClr val="0A2540"/>
                </a:solidFill>
                <a:latin typeface="Calibri"/>
              </a:defRPr>
            </a:pPr>
            <a:r>
              <a:t>Problem Statement ID: SIH26066</a:t>
            </a:r>
          </a:p>
          <a:p>
            <a:pPr>
              <a:spcAft>
                <a:spcPts val="2000"/>
              </a:spcAft>
              <a:defRPr sz="2200" b="1">
                <a:solidFill>
                  <a:srgbClr val="1E293B"/>
                </a:solidFill>
                <a:latin typeface="Calibri"/>
              </a:defRPr>
            </a:pPr>
            <a:r>
              <a:t>Satellite Embedding-Based Deep Learning Framework to Reconstruct Depth-Wise Subsurface Temperature in the North Indian Ocean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Ministry / Organization: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Ministry of Earth Sciences (MoES) | INCOIS Ocean Valley</a:t>
            </a:r>
          </a:p>
          <a:p>
            <a:pPr>
              <a:spcAft>
                <a:spcPts val="2400"/>
              </a:spcAft>
              <a:defRPr sz="1300" b="1">
                <a:solidFill>
                  <a:srgbClr val="0077B6"/>
                </a:solidFill>
                <a:latin typeface="Calibri"/>
              </a:defRPr>
            </a:pPr>
            <a:r>
              <a:t>Target Domain: North Indian Ocean (5°N–30°N, 45°E–105°E) • 15 Standard Depths (0–1000m)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Team Identity:</a:t>
            </a:r>
          </a:p>
          <a:p>
            <a:pPr>
              <a:defRPr sz="2200" b="1">
                <a:solidFill>
                  <a:srgbClr val="0077B6"/>
                </a:solidFill>
                <a:latin typeface="Calibri"/>
              </a:defRPr>
            </a:pPr>
            <a:r>
              <a:t>OceanVision AI  |  Team ID: 188334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1645920"/>
            <a:ext cx="7132320" cy="8046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cean_satellite_cyclone_17909483777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1920240"/>
            <a:ext cx="6583680" cy="3674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98480" y="576072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Operational Earth Observation &amp; Tropical Cyclone Monitoring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Continuous multispectral satellite tracking over Arabian Sea &amp; Bay of Bengal seamlessly coupled to deep 3D thermocline dynamics down to 1000m depth.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94944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77B6"/>
                </a:solidFill>
                <a:latin typeface="Calibri"/>
              </a:defRPr>
            </a:pPr>
            <a:r>
              <a:t>CORE TECHNOLOGICAL STACK: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Google Earth Engine (GEE) automated satellite ingestion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Dual-Branch ConvNeXt-V2 + Swin-Transformer embedding engine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Physics-Guided TEOS-10 buoyancy loss (N² ≥ 0 monotonicity)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Ground truth cross-validation on INCOIS LAS Argo Profilers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011680" cy="67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12070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Our Solution: Satellite Embedding-Based 3D Subsurface Reconstruction</a:t>
            </a:r>
          </a:p>
          <a:p>
            <a:pPr>
              <a:defRPr sz="1300" b="1">
                <a:solidFill>
                  <a:srgbClr val="0077B6"/>
                </a:solidFill>
                <a:latin typeface="Calibri"/>
              </a:defRPr>
            </a:pPr>
            <a:r>
              <a:t>Smart India Hackathon 2026 | Problem Statement: SIH26066</a:t>
            </a:r>
          </a:p>
        </p:txBody>
      </p:sp>
      <p:pic>
        <p:nvPicPr>
          <p:cNvPr id="4" name="Picture 3" descr="slide_1_rI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0" y="137160"/>
            <a:ext cx="2377440" cy="1123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078992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738360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0236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MoES / INCOIS PS 2: 3D Ocean Subsurface Reconstruction • Team OceanVision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59" y="9802368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Slide 2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4206240" cy="8321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840480" cy="7955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Calibri"/>
              </a:defRPr>
            </a:pPr>
            <a:r>
              <a:t>PAIN POINT: OCEAN OPACITY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Seawater is opaque to satellite radar/infrared below skin depth (~1mm). Argo floats are sparse (~300 km apart, 10-day cycle), leaving the vertical 3D ocean interior unmonitored.</a:t>
            </a:r>
          </a:p>
          <a:p>
            <a:pPr>
              <a:defRPr sz="1200" b="1">
                <a:solidFill>
                  <a:srgbClr val="0077B6"/>
                </a:solidFill>
                <a:latin typeface="Calibri"/>
              </a:defRPr>
            </a:pPr>
            <a:r>
              <a:t>PROPOSED SOLUTION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End-to-end deep learning framework converting 7 daily satellite surface channels into continuous 3D vertical temperature fields (0–1000m) at 0.25° grid across the North Indian Ocean.</a:t>
            </a:r>
          </a:p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HOW IT SOLVES THE PROBLEM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Overcomes seawater opacity by learning nonlinear surface-to-subsurface baroclinic couplings. Reconstructs missing vertical profiles without waiting for heavy numerical ocean models.</a:t>
            </a:r>
          </a:p>
          <a:p>
            <a:pPr>
              <a:defRPr sz="1200" b="1">
                <a:solidFill>
                  <a:srgbClr val="0A2540"/>
                </a:solidFill>
                <a:latin typeface="Calibri"/>
              </a:defRPr>
            </a:pPr>
            <a:r>
              <a:t>TECHNICAL INNOVATION &amp; UNIQUENESS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Dual ConvNeXt-Swin multi-scale embedding engine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Observation-Guided TEOS-10 density loss (N² ≥ 0)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Climatological WOA18 anomaly residual learning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 Sub-45ms real-time inference via TensorRT / ONNX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234440"/>
            <a:ext cx="4023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cean_underwater_thermocline_179094834283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71600"/>
            <a:ext cx="3657600" cy="20414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5349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A2540"/>
                </a:solidFill>
                <a:latin typeface="Calibri"/>
              </a:defRPr>
            </a:pPr>
            <a:r>
              <a:t>Figure 1: 3D Volumetric Thermocline &amp; Argo Profile (0–1000m)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Volumetric cutaway showing reconstructed vertical temperature gradient and thermocline boundary layer matching autonomous Argo float telemetry.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234440"/>
            <a:ext cx="8595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1371600"/>
            <a:ext cx="265176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rd1_depth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444752"/>
            <a:ext cx="2377440" cy="114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18319" y="2633472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Calibri"/>
              </a:defRPr>
            </a:pPr>
            <a:r>
              <a:t>15 Standard Depths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0, 5, 10, 20, 30, 50, 75, 100, 125, 150, 200, 300, 500, 700, 1000m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15800" y="1371600"/>
            <a:ext cx="265176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rd2_dual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60" y="1444752"/>
            <a:ext cx="2377440" cy="1143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207240" y="2633472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Calibri"/>
              </a:defRPr>
            </a:pPr>
            <a:r>
              <a:t>Dual-Branch Embedding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ConvNeXt (local eddies) + Swin-Transformer (planetary waves)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904719" y="1371600"/>
            <a:ext cx="265176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rd3_infer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41879" y="1444752"/>
            <a:ext cx="2377440" cy="1143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996159" y="2633472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Calibri"/>
              </a:defRPr>
            </a:pPr>
            <a:r>
              <a:t>Real-Time Inference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&lt;45ms latency per basin tile on Vertex AI &amp; local ONNX cache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749039"/>
            <a:ext cx="265176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rd4_altimet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3822191"/>
            <a:ext cx="2377440" cy="1143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18319" y="5010912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Calibri"/>
              </a:defRPr>
            </a:pPr>
            <a:r>
              <a:t>Altimetry (SLA) Proxy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Couples Sea Level Anomaly &amp; Wind Stress Curl to thermocline shift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15800" y="3749039"/>
            <a:ext cx="265176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ard5_teos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52960" y="3822191"/>
            <a:ext cx="2377440" cy="1143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207240" y="5010912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Calibri"/>
              </a:defRPr>
            </a:pPr>
            <a:r>
              <a:t>TEOS-10 Density Guard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Observation-guided density loss eliminates unphysical inversions (N²≥0)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904719" y="3749039"/>
            <a:ext cx="265176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ard6_tch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41879" y="3822191"/>
            <a:ext cx="2377440" cy="1143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996159" y="5010912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Calibri"/>
              </a:defRPr>
            </a:pPr>
            <a:r>
              <a:t>Cyclone Heat Potential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Real-time D26 isotherm depth &amp; heat content alerts for IMD &amp; NDMA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6400800"/>
            <a:ext cx="12801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6492240"/>
            <a:ext cx="1234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Technical Innovation: Observation-Guided Physics-Informed Neural Architecture</a:t>
            </a:r>
          </a:p>
        </p:txBody>
      </p:sp>
      <p:pic>
        <p:nvPicPr>
          <p:cNvPr id="35" name="Picture 34" descr="slide2_arch_diagra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0" y="6812280"/>
            <a:ext cx="9418320" cy="2651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721840" y="681228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7B6"/>
                </a:solidFill>
                <a:latin typeface="Calibri"/>
              </a:defRPr>
            </a:pPr>
            <a:r>
              <a:t>ARCHITECTURE HIGHLIGHTS: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Multi-Satellite Fusion: Daily OSTIA SST, SMAP SSS, DUACS SLA, OSCAR &amp; CCMP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Satellite Embedding: ConvNeXt-V2 (eddies) + Swin-Transformer (planetary waves)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Physics-Informed Loss: UNESCO TEOS-10 density &amp; static stability (N² ≥ 0)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Inference Speed: Sub-45ms latency enables operational real-time daily gridding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011680" cy="67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12070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Technical Approach: End-to-End Operational Pipeline &amp; Tech Stack</a:t>
            </a:r>
          </a:p>
          <a:p>
            <a:pPr>
              <a:defRPr sz="1300" b="1">
                <a:solidFill>
                  <a:srgbClr val="0077B6"/>
                </a:solidFill>
                <a:latin typeface="Calibri"/>
              </a:defRPr>
            </a:pPr>
            <a:r>
              <a:t>Smart India Hackathon 2026 | Problem Statement: SIH26066</a:t>
            </a:r>
          </a:p>
        </p:txBody>
      </p:sp>
      <p:pic>
        <p:nvPicPr>
          <p:cNvPr id="4" name="Picture 3" descr="slide_1_rI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0" y="137160"/>
            <a:ext cx="2377440" cy="1123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078992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738360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0236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MoES / INCOIS PS 2: 3D Ocean Subsurface Reconstruction • Team OceanVision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59" y="9802368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Slide 3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8046720" cy="8321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749807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End-to-End Operational Pipeline (INCOIS PS 2 Suite)</a:t>
            </a:r>
          </a:p>
        </p:txBody>
      </p:sp>
      <p:pic>
        <p:nvPicPr>
          <p:cNvPr id="11" name="Picture 10" descr="slide3_pipelin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37360"/>
            <a:ext cx="7680960" cy="7680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869680" y="1234440"/>
            <a:ext cx="88696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298448"/>
            <a:ext cx="8412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Technology Stack &amp; Cloud Infrastructure</a:t>
            </a:r>
          </a:p>
        </p:txBody>
      </p:sp>
      <p:pic>
        <p:nvPicPr>
          <p:cNvPr id="14" name="Picture 13" descr="slide3_tech_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645920"/>
            <a:ext cx="8595360" cy="15168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869680" y="3108960"/>
            <a:ext cx="8869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200400"/>
            <a:ext cx="8412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Core Technical Innovations vs Oceanographic Challenges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052560" y="3566160"/>
          <a:ext cx="8503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108960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Innovation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Oceanographic Challenge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AI &amp; Physics Solution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Observation-Guided PINN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PINNs suffer gradient conflict &amp; spurious convergence in dynamic monsoonal dipoles.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Anchors physical loss to observed density &amp; TEOS-10, guaranteeing monotonic stratification (N² ≥ 0).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Dual-Branch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scale mismatch: mesoscale eddies (10–100 km) vs planetary Rossby / Kelvin waves.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ConvNeXt-V2 (7x7 local eddies) + Swin-Transformer (basin-scale planetary Rossby &amp; Kelvin waves).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Baroclinic Altimetry Proxy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Subsurface thermocline displacement invisible to surface satellite sensors.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Couples Sea Level Anomaly (SLA) &amp; Wind Stress Curl (Ekman pumping w_E) to vertical isotherm shift.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869680" y="6812280"/>
            <a:ext cx="8869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6903720"/>
            <a:ext cx="8412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Official Open-Access Satellite Data Suite (MoES / INCOIS Mandate)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7269480"/>
            <a:ext cx="84124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Sea Surface Temperature (SST): OSTIA 0.05° Daily L4 Analysis (CMEMS doi:10.48670/moi-00168)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Sea Surface Salinity (SSS): SMAP / SMOS 0.125° Daily 7-day objectively analyzed (CMEMS doi:10.48670/moi-00051)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Sea Level Anomaly (SLA): DUACS Multi-Mission Altimeter 0.25° Gridded L4 (CMEMS doi:10.48670/moi-00145)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Ocean Currents (U, V): OSCAR Third-Degree 0.25° L4 Near-Surface Ocean Current (NASA PO.DAAC)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Surface Wind Vectors: CCMP V3.0 / ASCAT 0.25° Cross-Calibrated Multi-Platform Wind Vector (PO.DAAC)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In-Situ Ground Truth: INCOIS Live Access Server (LAS) Quality-Controlled Argo Profilers (0–1000m)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011680" cy="67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12070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Feasibility, Viability &amp; Working Prototype Demonstration</a:t>
            </a:r>
          </a:p>
          <a:p>
            <a:pPr>
              <a:defRPr sz="1300" b="1">
                <a:solidFill>
                  <a:srgbClr val="0077B6"/>
                </a:solidFill>
                <a:latin typeface="Calibri"/>
              </a:defRPr>
            </a:pPr>
            <a:r>
              <a:t>Smart India Hackathon 2026 | Problem Statement: SIH26066</a:t>
            </a:r>
          </a:p>
        </p:txBody>
      </p:sp>
      <p:pic>
        <p:nvPicPr>
          <p:cNvPr id="4" name="Picture 3" descr="slide_1_rI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0" y="137160"/>
            <a:ext cx="2377440" cy="1123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078992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738360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0236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MoES / INCOIS PS 2: 3D Ocean Subsurface Reconstruction • Team OceanVision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59" y="9802368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Slide 4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17190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6459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Feasibility Analysis &amp; Data Integrity</a:t>
            </a:r>
          </a:p>
        </p:txBody>
      </p:sp>
      <p:pic>
        <p:nvPicPr>
          <p:cNvPr id="11" name="Picture 10" descr="slide4_feasibility_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00200"/>
            <a:ext cx="16824960" cy="15087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3337560"/>
            <a:ext cx="7132320" cy="6263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6766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Challenges, Risks and Mitigation Strategies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840480"/>
          <a:ext cx="676655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3749039"/>
              </a:tblGrid>
              <a:tr h="11155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 / Risk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Mitigation Strategy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Govt Satellite API Down / Missing Swathes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Spatio-temporal DINEOF &amp; Kalman filtering cache with climatological WOA18 background nudging.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Monsoonal Dipoles &amp; Vertical Inversions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Observation-Guided TEOS-10 density loss penalty actively suppresses unphysical temperature inversions.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Deep Ocean Sparsity (200m–1000m)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Depth-weighted loss scaling lambda(z) prioritizes thermocline (50–200m) and deep hydrostatic stability.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Real-Time Operational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FP16 ONNX Runtime / TensorRT quantization delivering &lt;45ms basin inference on single T4/L4 GPU.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863840" y="3337560"/>
            <a:ext cx="9875520" cy="6263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29000"/>
            <a:ext cx="95097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Proof: Working Prototype &amp; 3D Temperature Slicing Engine (TRL 4)</a:t>
            </a:r>
          </a:p>
        </p:txBody>
      </p:sp>
      <p:pic>
        <p:nvPicPr>
          <p:cNvPr id="17" name="Picture 16" descr="ocean_ai_dashboard_17909484133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794760"/>
            <a:ext cx="9509760" cy="5212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0" y="9098280"/>
            <a:ext cx="95097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0077B6"/>
                </a:solidFill>
                <a:latin typeface="Calibri"/>
              </a:defRPr>
            </a:pPr>
            <a:r>
              <a:t>⚡ Live Demo: End-to-end inference in &lt;45ms generating 15 depth slices with interactive 3D transects on MapLibre.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011680" cy="67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12070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Impact &amp; Benefits: Target Beneficiaries &amp; Maritime Roadmap</a:t>
            </a:r>
          </a:p>
          <a:p>
            <a:pPr>
              <a:defRPr sz="1300" b="1">
                <a:solidFill>
                  <a:srgbClr val="0077B6"/>
                </a:solidFill>
                <a:latin typeface="Calibri"/>
              </a:defRPr>
            </a:pPr>
            <a:r>
              <a:t>Smart India Hackathon 2026 | Problem Statement: SIH26066</a:t>
            </a:r>
          </a:p>
        </p:txBody>
      </p:sp>
      <p:pic>
        <p:nvPicPr>
          <p:cNvPr id="4" name="Picture 3" descr="slide_1_rI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0" y="137160"/>
            <a:ext cx="2377440" cy="1123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078992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738360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0236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MoES / INCOIS PS 2: 3D Ocean Subsurface Reconstruction • Team OceanVision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59" y="9802368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Slide 5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17190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3200400" cy="118872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30175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48 Hours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Earlier Cyclone Alert (TCHP)</a:t>
            </a:r>
            <a:br/>
            <a:r>
              <a:t>Rapid intensification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325880"/>
            <a:ext cx="3200400" cy="118872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71600"/>
            <a:ext cx="30175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30% Saved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Diesel Fuel for Fishermen</a:t>
            </a:r>
            <a:br/>
            <a:r>
              <a:t>Targeting productive upwelling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1325880"/>
            <a:ext cx="3200400" cy="118872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371600"/>
            <a:ext cx="30175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0.25° Daily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100% Basin-Wide 3D Grid</a:t>
            </a:r>
            <a:br/>
            <a:r>
              <a:t>Resolves mesoscale eddies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1360" y="1325880"/>
            <a:ext cx="3200400" cy="118872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1371600"/>
            <a:ext cx="30175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15 Depths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Standard INCOIS Layers</a:t>
            </a:r>
            <a:br/>
            <a:r>
              <a:t>From surface down to 1000m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0" y="1325880"/>
            <a:ext cx="3200400" cy="118872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56080" y="1371600"/>
            <a:ext cx="30175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&lt;45 ms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Real-Time Model Latency</a:t>
            </a:r>
            <a:br/>
            <a:r>
              <a:t>Vertex AI &amp; ONNX serving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104241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3464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Multidimensional Benefits of the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3200400" cy="2743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077B6"/>
                </a:solidFill>
                <a:latin typeface="Calibri"/>
              </a:defRPr>
            </a:pPr>
            <a:r>
              <a:t>Social Impact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Safer marine operations with 48h cyclone warning</a:t>
            </a:r>
            <a:br/>
            <a:r>
              <a:t>• Precise thermocline Potential Fishing Zone advisory</a:t>
            </a:r>
            <a:br/>
            <a:r>
              <a:t>• Continuous daily coverage replacing sparse point floats</a:t>
            </a:r>
            <a:br/>
            <a:r>
              <a:t>• Protects coastal communities in Odisha, AP, WB, Gujarat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200400"/>
            <a:ext cx="3200400" cy="2743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  <a:latin typeface="Calibri"/>
              </a:defRPr>
            </a:pPr>
            <a:r>
              <a:t>Economic Impact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30% diesel fuel saved navigating to productive zones</a:t>
            </a:r>
            <a:br/>
            <a:r>
              <a:t>• Substantial increase in Catch Per Unit Effort (CPUE)</a:t>
            </a:r>
            <a:br/>
            <a:r>
              <a:t>• Prevents fishing fleet losses during rapid storm onset</a:t>
            </a:r>
            <a:br/>
            <a:r>
              <a:t>• Bolsters India's $10B marine exports sector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0" y="3200400"/>
            <a:ext cx="3200400" cy="27432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7C3AED"/>
                </a:solidFill>
                <a:latin typeface="Calibri"/>
              </a:defRPr>
            </a:pPr>
            <a:r>
              <a:t>Environmental Impact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Monitors subsurface Marine Heatwaves (MHWs)</a:t>
            </a:r>
            <a:br/>
            <a:r>
              <a:t>• Early alerts for coral bleaching in Lakshadweep/Mannar</a:t>
            </a:r>
            <a:br/>
            <a:r>
              <a:t>• Tracks upper-ocean heat content &amp; stratification</a:t>
            </a:r>
            <a:br/>
            <a:r>
              <a:t>• Directly empowers India's sustainable Blue Economy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55680" y="2743200"/>
            <a:ext cx="65836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0" y="2834640"/>
            <a:ext cx="6217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Maritime Stakeholder Value Matrix</a:t>
            </a:r>
          </a:p>
        </p:txBody>
      </p:sp>
      <p:pic>
        <p:nvPicPr>
          <p:cNvPr id="30" name="Picture 29" descr="stakeholder_wh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0" y="3200400"/>
            <a:ext cx="4754880" cy="289490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48640" y="6309360"/>
            <a:ext cx="10424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Direct Impact on National Stakeholders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766560"/>
            <a:ext cx="320040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adge_cycl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903720"/>
            <a:ext cx="822960" cy="81825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83080" y="690372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Calibri"/>
              </a:defRPr>
            </a:pPr>
            <a:r>
              <a:t>1. IMD &amp; NDMA Disaster Mgmt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7726679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Early warning of rapid cyclone intensification; protects vulnerable coastal communities across 7,500 km of Indian coastline.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6766560"/>
            <a:ext cx="320040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adge_inco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6903720"/>
            <a:ext cx="822960" cy="8182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166360" y="690372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Calibri"/>
              </a:defRPr>
            </a:pPr>
            <a:r>
              <a:t>2. Coastal Fisherfolk &amp; INCOIS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7726679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Directs artisanal &amp; mechanized fleets to active thermocline upwelling zones; saves millions in wasted search fuel.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6766560"/>
            <a:ext cx="320040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dg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6903720"/>
            <a:ext cx="822960" cy="81825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49640" y="690372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Calibri"/>
              </a:defRPr>
            </a:pPr>
            <a:r>
              <a:t>3. Indian Navy &amp; Coast Guard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7726679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Supplies high-resolution daily 3D assimilation feed; provides Navy with vertical Sound Velocity Profiles (SVP) for sonar.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155680" y="630936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60" y="6400800"/>
            <a:ext cx="6217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Sustainability &amp; Deployment 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766560"/>
            <a:ext cx="62179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77B6"/>
                </a:solidFill>
                <a:latin typeface="Calibri"/>
              </a:defRPr>
            </a:pPr>
            <a:r>
              <a:t>Next 3 Months</a:t>
            </a:r>
          </a:p>
          <a:p>
            <a:pPr>
              <a:spcAft>
                <a:spcPts val="400"/>
              </a:spcAft>
              <a:defRPr sz="919">
                <a:solidFill>
                  <a:srgbClr val="1E293B"/>
                </a:solidFill>
                <a:latin typeface="Calibri"/>
              </a:defRPr>
            </a:pPr>
            <a:r>
              <a:t>North Indian Ocean beta model on Vertex AI; continuous INCOIS LAS ARGO validation.</a:t>
            </a:r>
          </a:p>
          <a:p>
            <a:pPr>
              <a:defRPr sz="1050" b="1">
                <a:solidFill>
                  <a:srgbClr val="0077B6"/>
                </a:solidFill>
                <a:latin typeface="Calibri"/>
              </a:defRPr>
            </a:pPr>
            <a:r>
              <a:t>Year 1</a:t>
            </a:r>
          </a:p>
          <a:p>
            <a:pPr>
              <a:spcAft>
                <a:spcPts val="400"/>
              </a:spcAft>
              <a:defRPr sz="919">
                <a:solidFill>
                  <a:srgbClr val="1E293B"/>
                </a:solidFill>
                <a:latin typeface="Calibri"/>
              </a:defRPr>
            </a:pPr>
            <a:r>
              <a:t>Operational integration with INCOIS SAMUDRA app &amp; IMD cyclone advisory system.</a:t>
            </a:r>
          </a:p>
          <a:p>
            <a:pPr>
              <a:defRPr sz="1050" b="1">
                <a:solidFill>
                  <a:srgbClr val="0077B6"/>
                </a:solidFill>
                <a:latin typeface="Calibri"/>
              </a:defRPr>
            </a:pPr>
            <a:r>
              <a:t>Year 2</a:t>
            </a:r>
          </a:p>
          <a:p>
            <a:pPr>
              <a:spcAft>
                <a:spcPts val="400"/>
              </a:spcAft>
              <a:defRPr sz="919">
                <a:solidFill>
                  <a:srgbClr val="1E293B"/>
                </a:solidFill>
                <a:latin typeface="Calibri"/>
              </a:defRPr>
            </a:pPr>
            <a:r>
              <a:t>Pan-Indian Ocean expansion; addition of BGC-Argo variables (DO, Chlorophyll, pH).</a:t>
            </a:r>
          </a:p>
          <a:p>
            <a:pPr>
              <a:defRPr sz="1050" b="1">
                <a:solidFill>
                  <a:srgbClr val="0077B6"/>
                </a:solidFill>
                <a:latin typeface="Calibri"/>
              </a:defRPr>
            </a:pPr>
            <a:r>
              <a:t>National Adoption</a:t>
            </a:r>
          </a:p>
          <a:p>
            <a:pPr>
              <a:spcAft>
                <a:spcPts val="400"/>
              </a:spcAft>
              <a:defRPr sz="919">
                <a:solidFill>
                  <a:srgbClr val="1E293B"/>
                </a:solidFill>
                <a:latin typeface="Calibri"/>
              </a:defRPr>
            </a:pPr>
            <a:r>
              <a:t>MoES Deep Ocean Mission &amp; INCOIS national marine forecasting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011680" cy="67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12070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Research Literature, Validation Benchmarks &amp; Evidence Hierarchy</a:t>
            </a:r>
          </a:p>
          <a:p>
            <a:pPr>
              <a:defRPr sz="1300" b="1">
                <a:solidFill>
                  <a:srgbClr val="0077B6"/>
                </a:solidFill>
                <a:latin typeface="Calibri"/>
              </a:defRPr>
            </a:pPr>
            <a:r>
              <a:t>Smart India Hackathon 2026 | Problem Statement: SIH26066</a:t>
            </a:r>
          </a:p>
        </p:txBody>
      </p:sp>
      <p:pic>
        <p:nvPicPr>
          <p:cNvPr id="4" name="Picture 3" descr="slide_1_rI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0" y="137160"/>
            <a:ext cx="2377440" cy="1123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078992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738360"/>
            <a:ext cx="1719072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0236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MoES / INCOIS PS 2: 3D Ocean Subsurface Reconstruction • Team OceanVision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59" y="9802368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Slide 6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10058400" cy="8321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9692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Academic Research Literature &amp; Architecture Mapping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737360"/>
          <a:ext cx="9692640" cy="758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0"/>
                <a:gridCol w="3474720"/>
              </a:tblGrid>
              <a:tr h="10842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Publication (Peer-Reviewed)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Incorporated in Our Solution For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10842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[1] Song et al., 'Convformer: Subsurface T/S Reconstruction,' Remote Sens. 2024, doi:10.3390/rs16132422.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Dual-branch CNN-Transformer embedding engine resolving eddies &amp; planetary waves.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842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[2] Xiao, Tang, &amp; Li, 'Observation-Guided PINN (OG-PINN),' Hohai Univ., 2026.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Observation-Guided TEOS-10 density loss &amp; vertical stability formulation.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42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[3] Shao et al., '3D-MOPGCBANN: Physics-Guided ST Predicting,' IEEE TGRS 2025, doi:10.1109/TGRS.2025.4213112.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Pareto-optimal stratification stability &amp; buoyancy frequency (N² ≥ 0).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842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[4] Sun et al., 'CSSP-ConvLSTM: Subsurface Temperature Reconstruction,' IEEE TGRS 2026, doi:10.1109/TGRS.2026.4202415.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Spatiotemporal ConvLSTM recurrent sequence memory for 3D thermocline dynamics.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42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[5] Chae, Donohue, &amp; Park, 'TS-Cast: Deep Learning for Subsurface Ocean,' Ocean Sci. 2026, doi:10.5194/os-22-2161-2026.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Uncertainty-aware multi-task loss formulation coupling temperature &amp; salinity.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842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[6] Xie et al., 'Attention U-Net ST Field in SCS,' IEEE TGRS 2022, doi:10.1109/TGRS.2022.4209319.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Robust Huber loss &amp; Wind Stress Curl Ekman pumping vertical advection coupling.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0881360" y="123444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1325880"/>
            <a:ext cx="6492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Official Open-Access Datasets (MoES &amp; INCOIS)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1691640"/>
            <a:ext cx="64922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SST (OSTIA 0.05° Daily): CMEMS doi:10.48670/moi-00168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SSS (SMAP/SMOS 0.125° Daily): CMEMS doi:10.48670/moi-00051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SSH/SLA (DUACS 0.25° Daily): CMEMS doi:10.48670/moi-00145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Currents &amp; Winds: OSCAR &amp; CCMP 0.25° (PO.DAAC)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In-Situ Ground Truth: INCOIS LAS Gridded ARGO Profilers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1360" y="384048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0" y="3913632"/>
            <a:ext cx="6492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Calibri"/>
              </a:defRPr>
            </a:pPr>
            <a:r>
              <a:t>Empirical Validation: Vertical RMSE &amp; Argo Scatter</a:t>
            </a:r>
          </a:p>
        </p:txBody>
      </p:sp>
      <p:pic>
        <p:nvPicPr>
          <p:cNvPr id="17" name="Picture 16" descr="slide6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251960"/>
            <a:ext cx="6675120" cy="30632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881360" y="7589520"/>
            <a:ext cx="6858000" cy="1965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0" y="7662672"/>
            <a:ext cx="6492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7B6"/>
                </a:solidFill>
                <a:latin typeface="Calibri"/>
              </a:defRPr>
            </a:pPr>
            <a:r>
              <a:t>EVIDENCE HIERARCHY &amp; FUTURE EXPANSION</a:t>
            </a:r>
          </a:p>
          <a:p>
            <a:pPr>
              <a:spcAft>
                <a:spcPts val="600"/>
              </a:spcAft>
              <a:defRPr sz="950" b="1">
                <a:solidFill>
                  <a:srgbClr val="0A2540"/>
                </a:solidFill>
                <a:latin typeface="Calibri"/>
              </a:defRPr>
            </a:pPr>
            <a:r>
              <a:t>INCOIS LAS In-Situ ARGO Floats  &gt;  CMEMS GLORYS12V1 Reanalysis  &gt;  Theoretical PINN Bounds  &gt;  Academic Literature.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Future Expansion: Full BGC-Argo biogeochemical parameter reconstruction (DO, Chlorophyll, pH), Pan-Indian Ocean basin coverage, and direct API dissemination into the INCOIS SAMUDRA mobile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