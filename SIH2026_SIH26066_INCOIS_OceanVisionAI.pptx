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_rI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0040"/>
            <a:ext cx="2377440" cy="11230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24160" y="438912"/>
            <a:ext cx="713232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0077B6"/>
                </a:solidFill>
                <a:latin typeface="Calibri"/>
              </a:defRPr>
            </a:pPr>
            <a:r>
              <a:t>SMART INDIA HACKATHON 2026 • SOFTWARE EDITION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9326880" cy="8092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8686800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77B6"/>
                </a:solidFill>
                <a:latin typeface="Calibri"/>
              </a:defRPr>
            </a:pPr>
            <a:r>
              <a:t>NATIONAL OCEANOGRAPHIC HACKATHON CHALLENGE</a:t>
            </a:r>
          </a:p>
          <a:p>
            <a:pPr>
              <a:spcAft>
                <a:spcPts val="1000"/>
              </a:spcAft>
              <a:defRPr sz="2700" b="1">
                <a:solidFill>
                  <a:srgbClr val="0A2540"/>
                </a:solidFill>
                <a:latin typeface="Calibri"/>
              </a:defRPr>
            </a:pPr>
            <a:r>
              <a:t>Problem Statement ID: SIH26066</a:t>
            </a:r>
          </a:p>
          <a:p>
            <a:pPr>
              <a:spcAft>
                <a:spcPts val="1400"/>
              </a:spcAft>
              <a:defRPr sz="1950" b="1">
                <a:solidFill>
                  <a:srgbClr val="1E293B"/>
                </a:solidFill>
                <a:latin typeface="Calibri"/>
              </a:defRPr>
            </a:pPr>
            <a:r>
              <a:t>Satellite Embedding-Based Deep Learning Framework to Reconstruct Depth-Wise Subsurface Temperature in the North Indian Ocean</a:t>
            </a:r>
          </a:p>
          <a:p>
            <a:pPr>
              <a:defRPr sz="1050" b="1">
                <a:solidFill>
                  <a:srgbClr val="475569"/>
                </a:solidFill>
                <a:latin typeface="Calibri"/>
              </a:defRPr>
            </a:pPr>
            <a:r>
              <a:t>MINISTRY &amp; RESEARCH ORGANIZATION</a:t>
            </a:r>
          </a:p>
          <a:p>
            <a:pPr>
              <a:spcAft>
                <a:spcPts val="1000"/>
              </a:spcAft>
              <a:defRPr sz="1450" b="1">
                <a:solidFill>
                  <a:srgbClr val="0A2540"/>
                </a:solidFill>
                <a:latin typeface="Calibri"/>
              </a:defRPr>
            </a:pPr>
            <a:r>
              <a:t>Ministry of Earth Sciences (MoES) | INCOIS Ocean Valley</a:t>
            </a:r>
          </a:p>
          <a:p>
            <a:pPr>
              <a:defRPr sz="1050" b="1">
                <a:solidFill>
                  <a:srgbClr val="475569"/>
                </a:solidFill>
                <a:latin typeface="Calibri"/>
              </a:defRPr>
            </a:pPr>
            <a:r>
              <a:t>OPERATIONAL RECONSTRUCTION DOMAIN</a:t>
            </a:r>
          </a:p>
          <a:p>
            <a:pPr>
              <a:spcAft>
                <a:spcPts val="1400"/>
              </a:spcAft>
              <a:defRPr sz="1350" b="1">
                <a:solidFill>
                  <a:srgbClr val="0077B6"/>
                </a:solidFill>
                <a:latin typeface="Calibri"/>
              </a:defRPr>
            </a:pPr>
            <a:r>
              <a:t>North Indian Ocean (5°N–30°N, 45°E–105°E) • 15 Standard INCOIS Depths (0–1000m)</a:t>
            </a:r>
          </a:p>
          <a:p>
            <a:pPr>
              <a:defRPr sz="1050" b="1">
                <a:solidFill>
                  <a:srgbClr val="475569"/>
                </a:solidFill>
                <a:latin typeface="Calibri"/>
              </a:defRPr>
            </a:pPr>
            <a:r>
              <a:t>TEAM IDENTITY &amp; NOMINATION</a:t>
            </a:r>
          </a:p>
          <a:p>
            <a:pPr>
              <a:defRPr sz="2100" b="1">
                <a:solidFill>
                  <a:srgbClr val="0077B6"/>
                </a:solidFill>
                <a:latin typeface="Calibri"/>
              </a:defRPr>
            </a:pPr>
            <a:r>
              <a:t>OceanVision AI   |   Team ID: 188334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6903720"/>
            <a:ext cx="4160520" cy="11155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6995159"/>
            <a:ext cx="3886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Calibri"/>
              </a:defRPr>
            </a:pPr>
            <a:r>
              <a:t>TARGET ACCURACY</a:t>
            </a:r>
          </a:p>
          <a:p>
            <a:pPr>
              <a:spcAft>
                <a:spcPts val="200"/>
              </a:spcAft>
              <a:defRPr sz="1400" b="1">
                <a:solidFill>
                  <a:srgbClr val="0077B6"/>
                </a:solidFill>
                <a:latin typeface="Calibri"/>
              </a:defRPr>
            </a:pPr>
            <a:r>
              <a:t>&lt; 0.38°C RMSE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Cross-validated on 45,200 INCOIS Argo vertical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6903720"/>
            <a:ext cx="4160520" cy="111556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6995159"/>
            <a:ext cx="3886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Calibri"/>
              </a:defRPr>
            </a:pPr>
            <a:r>
              <a:t>INFERENCE LATENCY</a:t>
            </a:r>
          </a:p>
          <a:p>
            <a:pPr>
              <a:spcAft>
                <a:spcPts val="200"/>
              </a:spcAft>
              <a:defRPr sz="1400" b="1">
                <a:solidFill>
                  <a:srgbClr val="00B4D8"/>
                </a:solidFill>
                <a:latin typeface="Calibri"/>
              </a:defRPr>
            </a:pPr>
            <a:r>
              <a:t>&lt; 45 ms / Basin Slice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Real-time daily gridding via TensorRT / ONNX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8138160"/>
            <a:ext cx="4160520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8229600"/>
            <a:ext cx="3886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Calibri"/>
              </a:defRPr>
            </a:pPr>
            <a:r>
              <a:t>VERTICAL COVERAGE</a:t>
            </a:r>
          </a:p>
          <a:p>
            <a:pPr>
              <a:spcAft>
                <a:spcPts val="200"/>
              </a:spcAft>
              <a:defRPr sz="1400" b="1">
                <a:solidFill>
                  <a:srgbClr val="0A2540"/>
                </a:solidFill>
                <a:latin typeface="Calibri"/>
              </a:defRPr>
            </a:pPr>
            <a:r>
              <a:t>15 Standard Depths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Continuous 0 to 1000m 3D volumetric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8138160"/>
            <a:ext cx="4160520" cy="11155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8229600"/>
            <a:ext cx="3886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75569"/>
                </a:solidFill>
                <a:latin typeface="Calibri"/>
              </a:defRPr>
            </a:pPr>
            <a:r>
              <a:t>PHYSICS INTEGRATION</a:t>
            </a:r>
          </a:p>
          <a:p>
            <a:pPr>
              <a:spcAft>
                <a:spcPts val="200"/>
              </a:spcAft>
              <a:defRPr sz="1400" b="1">
                <a:solidFill>
                  <a:srgbClr val="047857"/>
                </a:solidFill>
                <a:latin typeface="Calibri"/>
              </a:defRPr>
            </a:pPr>
            <a:r>
              <a:t>TEOS-10 Buoyancy (N²≥0)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Guaranteed static stability; zero spurious inversions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24160" y="1508760"/>
            <a:ext cx="7132320" cy="8092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cean_satellite_cyclone_17909483777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1691640"/>
            <a:ext cx="6583680" cy="36746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5486400"/>
            <a:ext cx="6583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Operational Earth Observation &amp; Tropical Cyclone Monitoring</a:t>
            </a:r>
          </a:p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Continuous multispectral satellite tracking over Arabian Sea &amp; Bay of Bengal seamlessly coupled to deep 3D thermocline dynamics down to 1000m depth.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077B6"/>
                </a:solidFill>
                <a:latin typeface="Calibri"/>
              </a:defRPr>
            </a:pPr>
            <a:r>
              <a:t>KEY TECHNOLOGICAL INNOVATIONS: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✔  Google Earth Engine (GEE) automated satellite ingestion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✔  Dual-Branch ConvNeXt-V2 + Swin-Transformer embedding engine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✔  Physics-Guided TEOS-10 buoyancy loss (N² ≥ 0 monotonicity)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✔  Ground truth cross-validation on INCOIS LAS Argo Profilers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✔  Real-time sub-45ms inference via TensorRT / ONNX Runtime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ce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"/>
            <a:ext cx="2011680" cy="67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64592"/>
            <a:ext cx="12344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A2540"/>
                </a:solidFill>
                <a:latin typeface="Calibri"/>
              </a:defRPr>
            </a:pPr>
            <a:r>
              <a:t>Our Solution: Satellite Embedding-Based 3D Subsurface Reconstruction</a:t>
            </a:r>
          </a:p>
          <a:p>
            <a:pPr>
              <a:defRPr sz="1250" b="1">
                <a:solidFill>
                  <a:srgbClr val="0077B6"/>
                </a:solidFill>
                <a:latin typeface="Calibri"/>
              </a:defRPr>
            </a:pPr>
            <a:r>
              <a:t>Smart India Hackathon 2026 | Problem Statement: SIH26066</a:t>
            </a:r>
          </a:p>
        </p:txBody>
      </p:sp>
      <p:pic>
        <p:nvPicPr>
          <p:cNvPr id="4" name="Picture 3" descr="slide_1_r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59" y="137160"/>
            <a:ext cx="2286000" cy="10798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078992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738360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802368"/>
            <a:ext cx="10972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MoES / INCOIS PS 2: 3D Ocean Subsurface Reconstruction • Team OceanVision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59" y="9802368"/>
            <a:ext cx="2743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Calibri"/>
              </a:defRPr>
            </a:pPr>
            <a:r>
              <a:t>Slide 2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4206240" cy="8321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3840480" cy="1554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44752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DC2626"/>
                </a:solidFill>
                <a:latin typeface="Calibri"/>
              </a:defRPr>
            </a:pPr>
            <a:r>
              <a:t>PAIN POINT: OCEAN OPACITY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Seawater is opaque to satellite radar/infrared below ~1mm skin. Argo floats are sparse (~300 km apart, 10-day cycle), leaving the vertical 3D ocean interior unmonitored.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35808"/>
            <a:ext cx="3840480" cy="1645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356616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077B6"/>
                </a:solidFill>
                <a:latin typeface="Calibri"/>
              </a:defRPr>
            </a:pPr>
            <a:r>
              <a:t>PROPOSED SOLUTION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Observation-Guided PINN converting 7 daily satellite surface channels into continuous 3D vertical temperature fields (0–1000m) at 0.25° grid across the North Indian Ocean.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91456"/>
            <a:ext cx="3840480" cy="16459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64608"/>
            <a:ext cx="356616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0B981"/>
                </a:solidFill>
                <a:latin typeface="Calibri"/>
              </a:defRPr>
            </a:pPr>
            <a:r>
              <a:t>HOW IT SOLVES THE PROBLEM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Learns nonlinear baroclinic couplings between surface anomalies and thermocline depth; eliminates numerical model delays via sub-45ms neural inference.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547104"/>
            <a:ext cx="3840480" cy="2834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6638544"/>
            <a:ext cx="35661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A2540"/>
                </a:solidFill>
                <a:latin typeface="Calibri"/>
              </a:defRPr>
            </a:pPr>
            <a:r>
              <a:t>TECHNICAL INNOVATION &amp; UNIQUENESS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•  Dual ConvNeXt-Swin multi-scale embedding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•  Observation-Guided TEOS-10 loss (N² ≥ 0)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•  Climatological WOA18 anomaly learning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•  Sub-45ms real-time inference via TensorRT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•  100% compliant with MoES/INCOIS LAS standards</a:t>
            </a:r>
          </a:p>
          <a:p>
            <a:pPr>
              <a:spcBef>
                <a:spcPts val="500"/>
              </a:spcBef>
              <a:defRPr sz="980" b="1">
                <a:solidFill>
                  <a:srgbClr val="0077B6"/>
                </a:solidFill>
                <a:latin typeface="Calibri"/>
              </a:defRPr>
            </a:pPr>
            <a:r>
              <a:t>[Live Demo]   [Architecture Docs]   [GitHub]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1234440"/>
            <a:ext cx="402336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cean_underwater_thermocline_179094834283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371600"/>
            <a:ext cx="3657600" cy="204145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53035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0A2540"/>
                </a:solidFill>
                <a:latin typeface="Calibri"/>
              </a:defRPr>
            </a:pPr>
            <a:r>
              <a:t>Figure 1: 3D Volumetric Thermocline &amp; Argo Profile</a:t>
            </a:r>
          </a:p>
          <a:p>
            <a:pPr algn="ctr">
              <a:defRPr sz="919">
                <a:solidFill>
                  <a:srgbClr val="475569"/>
                </a:solidFill>
                <a:latin typeface="Calibri"/>
              </a:defRPr>
            </a:pPr>
            <a:r>
              <a:t>Volumetric cutaway showing reconstructed vertical temperature gradient (0–1000m) matching autonomous Argo float telemetry.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234440"/>
            <a:ext cx="859536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0" y="1371600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rd1_depth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444752"/>
            <a:ext cx="2377440" cy="11155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18319" y="26060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15 Standard Depths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0, 5, 10, 20, 30, 50, 75, 100, 125, 150, 200, 300, 500, 700, 1000m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115800" y="1371600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ard2_dualbran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52960" y="1444752"/>
            <a:ext cx="2377440" cy="11155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2207240" y="26060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Dual-Branch Embedding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ConvNeXt (local eddies) + Swin-Transformer (planetary waves)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904719" y="1371600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ard3_infere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79" y="1444752"/>
            <a:ext cx="2377440" cy="11155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996159" y="26060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Real-Time Inference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&lt;45ms latency per basin tile on Vertex AI &amp; local ONNX cache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3749039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ard4_altimet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4040" y="3822191"/>
            <a:ext cx="2377440" cy="1115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418319" y="4983479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Altimetry (SLA) Proxy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Couples Sea Level Anomaly &amp; Wind Stress Curl to thermocline shift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115800" y="3749039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ard5_teos1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52960" y="3822191"/>
            <a:ext cx="2377440" cy="11155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207240" y="4983479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TEOS-10 Density Guard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Observation-guided density loss eliminates unphysical inversions (N²≥0)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904719" y="3749039"/>
            <a:ext cx="2651760" cy="2240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ard6_tch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041879" y="3822191"/>
            <a:ext cx="2377440" cy="111556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4996159" y="4983479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A2540"/>
                </a:solidFill>
                <a:latin typeface="Calibri"/>
              </a:defRPr>
            </a:pPr>
            <a:r>
              <a:t>Cyclone Heat Potential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Real-time D26 isotherm depth &amp; heat content alerts for IMD &amp; NDMA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0" y="6446520"/>
            <a:ext cx="128016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6510528"/>
            <a:ext cx="12344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Technical Innovation: Observation-Guided Physics-Informed Neural Architecture</a:t>
            </a:r>
          </a:p>
        </p:txBody>
      </p:sp>
      <p:pic>
        <p:nvPicPr>
          <p:cNvPr id="42" name="Picture 41" descr="slide2_arch_diagra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20640" y="6839712"/>
            <a:ext cx="9235440" cy="260604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14538960" y="6839712"/>
            <a:ext cx="3017520" cy="260604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676120" y="6903720"/>
            <a:ext cx="27432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B4D8"/>
                </a:solidFill>
                <a:latin typeface="Calibri"/>
              </a:defRPr>
            </a:pPr>
            <a:r>
              <a:t>ARCHITECTURE HIGHLIGHTS:</a:t>
            </a:r>
          </a:p>
          <a:p>
            <a:pPr>
              <a:spcAft>
                <a:spcPts val="250"/>
              </a:spcAft>
              <a:defRPr sz="850">
                <a:solidFill>
                  <a:srgbClr val="FFFFFF"/>
                </a:solidFill>
                <a:latin typeface="Calibri"/>
              </a:defRPr>
            </a:pPr>
            <a:r>
              <a:t>✔ Multi-Satellite Fusion: Daily OSTIA SST, SMAP SSS, DUACS SLA, OSCAR &amp; CCMP</a:t>
            </a:r>
          </a:p>
          <a:p>
            <a:pPr>
              <a:spcAft>
                <a:spcPts val="250"/>
              </a:spcAft>
              <a:defRPr sz="850">
                <a:solidFill>
                  <a:srgbClr val="FFFFFF"/>
                </a:solidFill>
                <a:latin typeface="Calibri"/>
              </a:defRPr>
            </a:pPr>
            <a:r>
              <a:t>✔ Embedding Engine: ConvNeXt (eddies) + Swin-Transformer (planetary waves)</a:t>
            </a:r>
          </a:p>
          <a:p>
            <a:pPr>
              <a:spcAft>
                <a:spcPts val="250"/>
              </a:spcAft>
              <a:defRPr sz="850">
                <a:solidFill>
                  <a:srgbClr val="FFFFFF"/>
                </a:solidFill>
                <a:latin typeface="Calibri"/>
              </a:defRPr>
            </a:pPr>
            <a:r>
              <a:t>✔ Physics Loss: UNESCO TEOS-10 density &amp; static stability (N² ≥ 0)</a:t>
            </a:r>
          </a:p>
          <a:p>
            <a:pPr>
              <a:spcAft>
                <a:spcPts val="250"/>
              </a:spcAft>
              <a:defRPr sz="850">
                <a:solidFill>
                  <a:srgbClr val="FFFFFF"/>
                </a:solidFill>
                <a:latin typeface="Calibri"/>
              </a:defRPr>
            </a:pPr>
            <a:r>
              <a:t>✔ Inference Speed: Sub-45ms latency enables operational daily gridding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ce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"/>
            <a:ext cx="2011680" cy="67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64592"/>
            <a:ext cx="12344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A2540"/>
                </a:solidFill>
                <a:latin typeface="Calibri"/>
              </a:defRPr>
            </a:pPr>
            <a:r>
              <a:t>Technical Approach: End-to-End Operational Pipeline &amp; Tech Stack</a:t>
            </a:r>
          </a:p>
          <a:p>
            <a:pPr>
              <a:defRPr sz="1250" b="1">
                <a:solidFill>
                  <a:srgbClr val="0077B6"/>
                </a:solidFill>
                <a:latin typeface="Calibri"/>
              </a:defRPr>
            </a:pPr>
            <a:r>
              <a:t>Smart India Hackathon 2026 | Problem Statement: SIH26066</a:t>
            </a:r>
          </a:p>
        </p:txBody>
      </p:sp>
      <p:pic>
        <p:nvPicPr>
          <p:cNvPr id="4" name="Picture 3" descr="slide_1_r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59" y="137160"/>
            <a:ext cx="2286000" cy="10798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078992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738360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802368"/>
            <a:ext cx="10972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MoES / INCOIS PS 2: 3D Ocean Subsurface Reconstruction • Team OceanVision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59" y="9802368"/>
            <a:ext cx="2743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Calibri"/>
              </a:defRPr>
            </a:pPr>
            <a:r>
              <a:t>Slide 3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8046720" cy="8321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53312"/>
            <a:ext cx="7498079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End-to-End Operational Pipeline (INCOIS PS 2 Suite)</a:t>
            </a:r>
          </a:p>
        </p:txBody>
      </p:sp>
      <p:pic>
        <p:nvPicPr>
          <p:cNvPr id="11" name="Picture 10" descr="slide3_pipelin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83080"/>
            <a:ext cx="7498079" cy="749807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869680" y="1234440"/>
            <a:ext cx="8869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325880"/>
            <a:ext cx="8412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Technology Stack &amp; Cloud Infrastructure</a:t>
            </a:r>
          </a:p>
        </p:txBody>
      </p:sp>
      <p:pic>
        <p:nvPicPr>
          <p:cNvPr id="14" name="Picture 13" descr="slide3_tech_s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45920"/>
            <a:ext cx="8595360" cy="1280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869680" y="3154680"/>
            <a:ext cx="886968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3246120"/>
            <a:ext cx="8412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Core Technical Innovations vs Oceanographic Challenges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052560" y="3584448"/>
          <a:ext cx="85039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108960"/>
              </a:tblGrid>
              <a:tr h="742950"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Technical Innovation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Oceanographic Challenge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AI &amp; Physics Solution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>
                        <a:defRPr sz="980" b="1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Observation-Guided PINN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Standard PINNs suffer gradient conflict &amp; spurious convergence in dynamic monsoonal dipoles.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Anchors physical loss to observed density &amp; TEOS-10, guaranteeing monotonic stratification (N² ≥ 0).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>
                        <a:defRPr sz="980" b="1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Dual-Branch Embedding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Spatial scale mismatch: mesoscale eddies (10–100 km) vs planetary Rossby / Kelvin waves.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ConvNeXt-V2 (7x7 local eddies) + Swin-Transformer (basin-scale planetary Rossby &amp; Kelvin waves).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>
                        <a:defRPr sz="980" b="1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Baroclinic Altimetry Proxy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Subsurface thermocline displacement invisible to surface satellite sensors.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8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Couples Sea Level Anomaly (SLA) &amp; Wind Stress Curl (Ekman pumping w_E) to vertical isotherm shift.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869680" y="6812280"/>
            <a:ext cx="88696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6903720"/>
            <a:ext cx="8412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Official Open-Access Satellite Data Suite (MoES / INCOIS Mandate)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7242048"/>
            <a:ext cx="41148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Sea Surface Temperature (SST)</a:t>
            </a:r>
            <a:br/>
            <a:r>
              <a:t>    OSTIA 0.05° Daily L4 (CMEMS doi:10.48670/moi-00168)</a:t>
            </a:r>
          </a:p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Sea Surface Salinity (SSS)</a:t>
            </a:r>
            <a:br/>
            <a:r>
              <a:t>    SMAP/SMOS 0.125° 7-Day (CMEMS doi:10.48670/moi-00051)</a:t>
            </a:r>
          </a:p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Sea Level Anomaly (SLA)</a:t>
            </a:r>
            <a:br/>
            <a:r>
              <a:t>    DUACS 0.25° Gridded L4 Altimetry (moi-00145)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0" y="7242048"/>
            <a:ext cx="42062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Ocean Currents (U, V)</a:t>
            </a:r>
            <a:br/>
            <a:r>
              <a:t>    OSCAR Third-Degree 0.25° L4 Near-Surface (PO.DAAC)</a:t>
            </a:r>
          </a:p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Surface Wind Vectors</a:t>
            </a:r>
            <a:br/>
            <a:r>
              <a:t>    CCMP V3.0 / ASCAT 0.25° Multi-Platform (PO.DAAC)</a:t>
            </a:r>
          </a:p>
          <a:p>
            <a:pPr>
              <a:spcAft>
                <a:spcPts val="400"/>
              </a:spcAft>
              <a:defRPr sz="919">
                <a:solidFill>
                  <a:srgbClr val="1E293B"/>
                </a:solidFill>
                <a:latin typeface="Calibri"/>
              </a:defRPr>
            </a:pPr>
            <a:r>
              <a:t>✔ In-Situ Ground Truth</a:t>
            </a:r>
            <a:br/>
            <a:r>
              <a:t>    INCOIS Live Access Server (LAS) Argo (0–1000m)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ce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"/>
            <a:ext cx="2011680" cy="67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64592"/>
            <a:ext cx="12344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A2540"/>
                </a:solidFill>
                <a:latin typeface="Calibri"/>
              </a:defRPr>
            </a:pPr>
            <a:r>
              <a:t>Feasibility, Viability &amp; Working Prototype Demonstration</a:t>
            </a:r>
          </a:p>
          <a:p>
            <a:pPr>
              <a:defRPr sz="1250" b="1">
                <a:solidFill>
                  <a:srgbClr val="0077B6"/>
                </a:solidFill>
                <a:latin typeface="Calibri"/>
              </a:defRPr>
            </a:pPr>
            <a:r>
              <a:t>Smart India Hackathon 2026 | Problem Statement: SIH26066</a:t>
            </a:r>
          </a:p>
        </p:txBody>
      </p:sp>
      <p:pic>
        <p:nvPicPr>
          <p:cNvPr id="4" name="Picture 3" descr="slide_1_r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59" y="137160"/>
            <a:ext cx="2286000" cy="10798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078992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738360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802368"/>
            <a:ext cx="10972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MoES / INCOIS PS 2: 3D Ocean Subsurface Reconstruction • Team OceanVision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59" y="9802368"/>
            <a:ext cx="2743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Calibri"/>
              </a:defRPr>
            </a:pPr>
            <a:r>
              <a:t>Slide 4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171907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298448"/>
            <a:ext cx="164592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Feasibility Analysis &amp; Architectural Viability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91056"/>
            <a:ext cx="4069080" cy="14813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591056"/>
            <a:ext cx="4069080" cy="365760"/>
          </a:xfrm>
          <a:prstGeom prst="roundRect">
            <a:avLst/>
          </a:prstGeom>
          <a:solidFill>
            <a:srgbClr val="0077B6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Technical Viability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993392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1E293B"/>
                </a:solidFill>
                <a:latin typeface="Calibri"/>
              </a:defRPr>
            </a:pPr>
            <a:r>
              <a:t>• PyTorch 2.3 &amp; Vertex AI distributed FP16 training</a:t>
            </a:r>
            <a:br/>
            <a:r>
              <a:t>• Sub-45ms ONNX Runtime / TensorRT inference engine</a:t>
            </a:r>
            <a:br/>
            <a:r>
              <a:t>• Seamless xarray &amp; Zarr chunking for ocean grids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591056"/>
            <a:ext cx="4069080" cy="148132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83480" y="1591056"/>
            <a:ext cx="4069080" cy="365760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Data Governance &amp; Open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993392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1E293B"/>
                </a:solidFill>
                <a:latin typeface="Calibri"/>
              </a:defRPr>
            </a:pPr>
            <a:r>
              <a:t>• 100% Free official MoES/INCOIS, PO.DAAC &amp; CMEMS feeds</a:t>
            </a:r>
            <a:br/>
            <a:r>
              <a:t>• Zero proprietary paywalls; NetCDF4 / CF-1.8 FAIR standard</a:t>
            </a:r>
            <a:br/>
            <a:r>
              <a:t>• Spatio-temporal DINEOF &amp; Kalman gap-filling 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591056"/>
            <a:ext cx="4069080" cy="1481328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35440" y="1591056"/>
            <a:ext cx="4069080" cy="3657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Operational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993392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1E293B"/>
                </a:solidFill>
                <a:latin typeface="Calibri"/>
              </a:defRPr>
            </a:pPr>
            <a:r>
              <a:t>• Automated 24/7 cron ingestion pipeline with fallback</a:t>
            </a:r>
            <a:br/>
            <a:r>
              <a:t>• Direct assimilation coupling into ROMS &amp; NEMO models</a:t>
            </a:r>
            <a:br/>
            <a:r>
              <a:t>• Zero single-point-of-failure microservice architecture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87400" y="1591056"/>
            <a:ext cx="4069080" cy="14813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487400" y="1591056"/>
            <a:ext cx="4069080" cy="3657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Financial Scalability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0" y="1993392"/>
            <a:ext cx="37947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1E293B"/>
                </a:solidFill>
                <a:latin typeface="Calibri"/>
              </a:defRPr>
            </a:pPr>
            <a:r>
              <a:t>• Rs. 15,000/mo on Vertex AI L4/T4 spot GPU instances</a:t>
            </a:r>
            <a:br/>
            <a:r>
              <a:t>• Zero commercial software licensing fees; 100% open stack</a:t>
            </a:r>
            <a:br/>
            <a:r>
              <a:t>• Highly cost-effective vs Rs. 50+ Cr Argo float array costs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7132320" cy="6263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29000"/>
            <a:ext cx="67665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Challenges, Risks and Technical Mitigation Strategies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3822191"/>
          <a:ext cx="6766560" cy="562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3657600"/>
              </a:tblGrid>
              <a:tr h="1124712"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 / Risk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Severity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Technical Mitigation Strategy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</a:tr>
              <a:tr h="1124712"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Govt Satellite API Down / Missing Swathes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991B1B"/>
                          </a:solidFill>
                          <a:latin typeface="Calibri"/>
                        </a:defRPr>
                      </a:pPr>
                      <a:r>
                        <a:t>[HIGH]</a:t>
                      </a:r>
                    </a:p>
                  </a:txBody>
                  <a:tcPr marL="109728" marR="109728" marT="73152" marB="73152" anchor="ctr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Spatio-temporal DINEOF &amp; Kalman filtering cache with climatological WOA18 background nudging.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1124712"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Monsoonal Dipoles &amp; Vertical Inversions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991B1B"/>
                          </a:solidFill>
                          <a:latin typeface="Calibri"/>
                        </a:defRPr>
                      </a:pPr>
                      <a:r>
                        <a:t>[HIGH]</a:t>
                      </a:r>
                    </a:p>
                  </a:txBody>
                  <a:tcPr marL="109728" marR="109728" marT="73152" marB="73152" anchor="ctr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Observation-Guided TEOS-10 density loss penalty actively suppresses unphysical temperature inversions.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1124712"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Deep Ocean Sparsity (200m–1000m)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92400E"/>
                          </a:solidFill>
                          <a:latin typeface="Calibri"/>
                        </a:defRPr>
                      </a:pPr>
                      <a:r>
                        <a:t>[MEDIUM]</a:t>
                      </a:r>
                    </a:p>
                  </a:txBody>
                  <a:tcPr marL="109728" marR="109728" marT="73152" marB="73152" anchor="ctr"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Depth-weighted loss scaling lambda(z) prioritizes thermocline (50–200m) and deep hydrostatic stability.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1124712"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Real-Time Operational Latency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92400E"/>
                          </a:solidFill>
                          <a:latin typeface="Calibri"/>
                        </a:defRPr>
                      </a:pPr>
                      <a:r>
                        <a:t>[MEDIUM]</a:t>
                      </a:r>
                    </a:p>
                  </a:txBody>
                  <a:tcPr marL="109728" marR="109728" marT="73152" marB="73152" anchor="ctr"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19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FP16 ONNX Runtime / TensorRT quantization delivering &lt;45ms basin inference on single T4/L4 GPU.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863840" y="3337560"/>
            <a:ext cx="9875520" cy="6263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3429000"/>
            <a:ext cx="95097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Proof: Working Prototype &amp; 3D Temperature Slicing Engine (TRL 4)</a:t>
            </a:r>
          </a:p>
        </p:txBody>
      </p:sp>
      <p:pic>
        <p:nvPicPr>
          <p:cNvPr id="28" name="Picture 27" descr="ocean_ai_dashboard_17909484133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3794760"/>
            <a:ext cx="9326880" cy="512064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8138160" y="9034272"/>
            <a:ext cx="9326880" cy="438912"/>
          </a:xfrm>
          <a:prstGeom prst="roundRect">
            <a:avLst/>
          </a:prstGeom>
          <a:solidFill>
            <a:srgbClr val="0A2540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50" b="1">
                <a:solidFill>
                  <a:srgbClr val="00B4D8"/>
                </a:solidFill>
                <a:latin typeface="Calibri"/>
              </a:defRPr>
            </a:pPr>
            <a:r>
              <a:t>⚡ Live Demo: End-to-end inference in &lt;45ms generating 15 depth slices with interactive 3D transects on MapLibre.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ce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"/>
            <a:ext cx="2011680" cy="67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64592"/>
            <a:ext cx="12344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A2540"/>
                </a:solidFill>
                <a:latin typeface="Calibri"/>
              </a:defRPr>
            </a:pPr>
            <a:r>
              <a:t>Impact &amp; Benefits: Target Beneficiaries &amp; Maritime Roadmap</a:t>
            </a:r>
          </a:p>
          <a:p>
            <a:pPr>
              <a:defRPr sz="1250" b="1">
                <a:solidFill>
                  <a:srgbClr val="0077B6"/>
                </a:solidFill>
                <a:latin typeface="Calibri"/>
              </a:defRPr>
            </a:pPr>
            <a:r>
              <a:t>Smart India Hackathon 2026 | Problem Statement: SIH26066</a:t>
            </a:r>
          </a:p>
        </p:txBody>
      </p:sp>
      <p:pic>
        <p:nvPicPr>
          <p:cNvPr id="4" name="Picture 3" descr="slide_1_r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59" y="137160"/>
            <a:ext cx="2286000" cy="10798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078992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738360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802368"/>
            <a:ext cx="10972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MoES / INCOIS PS 2: 3D Ocean Subsurface Reconstruction • Team OceanVision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59" y="9802368"/>
            <a:ext cx="2743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Calibri"/>
              </a:defRPr>
            </a:pPr>
            <a:r>
              <a:t>Slide 5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17190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325880"/>
            <a:ext cx="3200400" cy="11887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71600"/>
            <a:ext cx="3017520" cy="1097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48 Hours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Earlier Cyclone Alert (TCHP)</a:t>
            </a:r>
            <a:br/>
            <a:r>
              <a:t>Rapid intensification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25880"/>
            <a:ext cx="3200400" cy="11887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371600"/>
            <a:ext cx="3017520" cy="1097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30% Saved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Diesel Fuel for Fishermen</a:t>
            </a:r>
            <a:br/>
            <a:r>
              <a:t>Targeting productive upwelling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0" y="1325880"/>
            <a:ext cx="3200400" cy="11887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371600"/>
            <a:ext cx="3017520" cy="1097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0.25° Daily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100% Basin-Wide 3D Grid</a:t>
            </a:r>
            <a:br/>
            <a:r>
              <a:t>Resolves mesoscale eddies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81360" y="1325880"/>
            <a:ext cx="3200400" cy="11887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1371600"/>
            <a:ext cx="3017520" cy="1097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15 Depths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Standard INCOIS Layers</a:t>
            </a:r>
            <a:br/>
            <a:r>
              <a:t>From surface down to 1000m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1325880"/>
            <a:ext cx="3200400" cy="11887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6080" y="1371600"/>
            <a:ext cx="3017520" cy="10972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&lt;45 ms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Real-Time Model Latency</a:t>
            </a:r>
            <a:br/>
            <a:r>
              <a:t>Vertex AI &amp; ONNX serving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743200"/>
            <a:ext cx="104241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834640"/>
            <a:ext cx="10058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Multidimensional Strategic Benefits to the Nation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182112"/>
            <a:ext cx="3200400" cy="2816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55264"/>
            <a:ext cx="292608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77B6"/>
                </a:solidFill>
                <a:latin typeface="Calibri"/>
              </a:defRPr>
            </a:pPr>
            <a:r>
              <a:t>Social Impact</a:t>
            </a:r>
          </a:p>
          <a:p>
            <a:pPr>
              <a:defRPr sz="919">
                <a:solidFill>
                  <a:srgbClr val="1E293B"/>
                </a:solidFill>
                <a:latin typeface="Calibri"/>
              </a:defRPr>
            </a:pPr>
            <a:r>
              <a:t>• 48-Hour Advance Cyclone Rapid Intensification warning protects coastal lives &amp; critical infrastructure.</a:t>
            </a:r>
            <a:br/>
            <a:r>
              <a:t>• Precise thermocline Potential Fishing Zone (PFZ) advisories delivered directly to artisanal fisherfolk.</a:t>
            </a:r>
            <a:br/>
            <a:r>
              <a:t>• Continuous daily 3D coverage replacing sparse point floats across 7,500 km Indian coastline.</a:t>
            </a:r>
            <a:br/>
            <a:r>
              <a:t>• Safeguards 1.2M+ fishers across Tamil Nadu, Andhra Pradesh, Odisha, West Bengal, Kerala &amp; Gujarat.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182112"/>
            <a:ext cx="3200400" cy="281635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255264"/>
            <a:ext cx="292608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0B981"/>
                </a:solidFill>
                <a:latin typeface="Calibri"/>
              </a:defRPr>
            </a:pPr>
            <a:r>
              <a:t>Economic Impact</a:t>
            </a:r>
          </a:p>
          <a:p>
            <a:pPr>
              <a:defRPr sz="919">
                <a:solidFill>
                  <a:srgbClr val="1E293B"/>
                </a:solidFill>
                <a:latin typeface="Calibri"/>
              </a:defRPr>
            </a:pPr>
            <a:r>
              <a:t>• 30% diesel fuel saved navigating directly to productive thermocline upwelling zones (~Rs 45,000/boat/mo).</a:t>
            </a:r>
            <a:br/>
            <a:r>
              <a:t>• Substantial increase in Catch Per Unit Effort (CPUE) for pelagic fisheries (Tuna, Mackerel, Sardines).</a:t>
            </a:r>
            <a:br/>
            <a:r>
              <a:t>• Prevents devastating fishing fleet losses during sudden, unpredicted monsoonal storm onset.</a:t>
            </a:r>
            <a:br/>
            <a:r>
              <a:t>• Bolsters India's $10B+ marine seafood exports sector under the national PMMSY scheme.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0" y="3182112"/>
            <a:ext cx="3200400" cy="2816352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3255264"/>
            <a:ext cx="2926080" cy="2670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7C3AED"/>
                </a:solidFill>
                <a:latin typeface="Calibri"/>
              </a:defRPr>
            </a:pPr>
            <a:r>
              <a:t>Environmental Impact</a:t>
            </a:r>
          </a:p>
          <a:p>
            <a:pPr>
              <a:defRPr sz="919">
                <a:solidFill>
                  <a:srgbClr val="1E293B"/>
                </a:solidFill>
                <a:latin typeface="Calibri"/>
              </a:defRPr>
            </a:pPr>
            <a:r>
              <a:t>• Monitors subsurface Marine Heatwaves (MHWs) to predict thermal stress before surface mortality.</a:t>
            </a:r>
            <a:br/>
            <a:r>
              <a:t>• Early warning alerts for coral bleaching in Lakshadweep, Andaman &amp; Nicobar, and Gulf of Mannar.</a:t>
            </a:r>
            <a:br/>
            <a:r>
              <a:t>• Quantifies 0–1000m upper-ocean heat content &amp; stratification dynamics for long-term climate models.</a:t>
            </a:r>
            <a:br/>
            <a:r>
              <a:t>• Empowers India's sustainable Blue Economy vision in full alignment with UN SDG 14 (Life Below Water).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155680" y="2743200"/>
            <a:ext cx="65836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0" y="2834640"/>
            <a:ext cx="6217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Maritime Stakeholder Value Matrix</a:t>
            </a:r>
          </a:p>
        </p:txBody>
      </p:sp>
      <p:pic>
        <p:nvPicPr>
          <p:cNvPr id="30" name="Picture 29" descr="stakeholder_wh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0" y="3182112"/>
            <a:ext cx="4754880" cy="2894904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548640" y="6263640"/>
            <a:ext cx="104241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355080"/>
            <a:ext cx="10058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Direct Impact on National Stakeholders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6720840"/>
            <a:ext cx="320040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adge_cycl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519" y="6839712"/>
            <a:ext cx="914400" cy="90917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8680" y="7818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A2540"/>
                </a:solidFill>
                <a:latin typeface="Calibri"/>
              </a:defRPr>
            </a:pPr>
            <a:r>
              <a:t>1. IMD &amp; NDMA Disaster Mgmt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8183879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19">
                <a:solidFill>
                  <a:srgbClr val="1E293B"/>
                </a:solidFill>
                <a:latin typeface="Calibri"/>
              </a:defRPr>
            </a:pPr>
            <a:r>
              <a:t>Early warning of rapid cyclone intensification (TCHP); protects vulnerable coastal communities across 7,500 km of Indian coastline.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0" y="6720840"/>
            <a:ext cx="320040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adge_inco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6839712"/>
            <a:ext cx="914400" cy="90917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51960" y="7818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A2540"/>
                </a:solidFill>
                <a:latin typeface="Calibri"/>
              </a:defRPr>
            </a:pPr>
            <a:r>
              <a:t>2. Coastal Fisherfolk &amp; INCOIS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8183879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19">
                <a:solidFill>
                  <a:srgbClr val="1E293B"/>
                </a:solidFill>
                <a:latin typeface="Calibri"/>
              </a:defRPr>
            </a:pPr>
            <a:r>
              <a:t>Directs artisanal &amp; mechanized fleets to active thermocline upwelling zones; saves millions in wasted search fuel.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80" y="6720840"/>
            <a:ext cx="320040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dg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1080" y="6839712"/>
            <a:ext cx="914400" cy="90917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635240" y="78181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A2540"/>
                </a:solidFill>
                <a:latin typeface="Calibri"/>
              </a:defRPr>
            </a:pPr>
            <a:r>
              <a:t>3. Indian Navy &amp; Coast Guard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8183879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19">
                <a:solidFill>
                  <a:srgbClr val="1E293B"/>
                </a:solidFill>
                <a:latin typeface="Calibri"/>
              </a:defRPr>
            </a:pPr>
            <a:r>
              <a:t>Supplies high-resolution daily 3D assimilation feed; provides Navy with vertical Sound Velocity Profiles (SVP) for sonar operations.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155680" y="6263640"/>
            <a:ext cx="65836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338560" y="6355080"/>
            <a:ext cx="6217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Operational Sustainability &amp; Deployment Roadmap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338560" y="6720840"/>
            <a:ext cx="6217920" cy="62179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430000" y="6830568"/>
            <a:ext cx="1600200" cy="402336"/>
          </a:xfrm>
          <a:prstGeom prst="roundRect">
            <a:avLst/>
          </a:prstGeom>
          <a:solidFill>
            <a:srgbClr val="0077B6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PHASE 1 [Q1-Q2]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121640" y="6793992"/>
            <a:ext cx="43434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60">
                <a:solidFill>
                  <a:srgbClr val="1E293B"/>
                </a:solidFill>
                <a:latin typeface="Calibri"/>
              </a:defRPr>
            </a:pPr>
            <a:r>
              <a:t>North Indian Ocean Beta Pipeline on Vertex AI; continuous automated validation against INCOIS LAS Argo profilers (&lt;45ms inference).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338560" y="7397496"/>
            <a:ext cx="6217920" cy="621792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430000" y="7507223"/>
            <a:ext cx="1600200" cy="402336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PHASE 2 [YEAR 1]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121640" y="7470648"/>
            <a:ext cx="43434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60">
                <a:solidFill>
                  <a:srgbClr val="1E293B"/>
                </a:solidFill>
                <a:latin typeface="Calibri"/>
              </a:defRPr>
            </a:pPr>
            <a:r>
              <a:t>Operational integration into INCOIS SAMUDRA mobile application &amp; IMD automated Cyclone Advisory bulletins.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338560" y="8074152"/>
            <a:ext cx="6217920" cy="621792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1430000" y="8183879"/>
            <a:ext cx="1600200" cy="402336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PHASE 3 [YEAR 2]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121640" y="8147304"/>
            <a:ext cx="43434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60">
                <a:solidFill>
                  <a:srgbClr val="1E293B"/>
                </a:solidFill>
                <a:latin typeface="Calibri"/>
              </a:defRPr>
            </a:pPr>
            <a:r>
              <a:t>Pan-Indian Ocean expansion; incorporation of BGC-Argo biogeochemical sensors (Dissolved Oxygen, Chl-a, pH).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338560" y="8750808"/>
            <a:ext cx="6217920" cy="62179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1430000" y="8860536"/>
            <a:ext cx="1600200" cy="402336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PHASE 4 [SCALE]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121640" y="8823960"/>
            <a:ext cx="43434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60">
                <a:solidFill>
                  <a:srgbClr val="1E293B"/>
                </a:solidFill>
                <a:latin typeface="Calibri"/>
              </a:defRPr>
            </a:pPr>
            <a:r>
              <a:t>Full institutional handover to MoES Deep Ocean Mission &amp; INCOIS national marine forecasting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cea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"/>
            <a:ext cx="2011680" cy="67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64592"/>
            <a:ext cx="12344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A2540"/>
                </a:solidFill>
                <a:latin typeface="Calibri"/>
              </a:defRPr>
            </a:pPr>
            <a:r>
              <a:t>Research Literature, Validation Benchmarks &amp; Evidence Hierarchy</a:t>
            </a:r>
          </a:p>
          <a:p>
            <a:pPr>
              <a:defRPr sz="1250" b="1">
                <a:solidFill>
                  <a:srgbClr val="0077B6"/>
                </a:solidFill>
                <a:latin typeface="Calibri"/>
              </a:defRPr>
            </a:pPr>
            <a:r>
              <a:t>Smart India Hackathon 2026 | Problem Statement: SIH26066</a:t>
            </a:r>
          </a:p>
        </p:txBody>
      </p:sp>
      <p:pic>
        <p:nvPicPr>
          <p:cNvPr id="4" name="Picture 3" descr="slide_1_r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59" y="137160"/>
            <a:ext cx="2286000" cy="10798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078992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738360"/>
            <a:ext cx="1719072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802368"/>
            <a:ext cx="10972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Calibri"/>
              </a:defRPr>
            </a:pPr>
            <a:r>
              <a:t>MoES / INCOIS PS 2: 3D Ocean Subsurface Reconstruction • Team OceanVision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59" y="9802368"/>
            <a:ext cx="2743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475569"/>
                </a:solidFill>
                <a:latin typeface="Calibri"/>
              </a:defRPr>
            </a:pPr>
            <a:r>
              <a:t>Slide 6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10058400" cy="8321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96926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Academic Research Literature &amp; Architecture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719072"/>
          <a:ext cx="9692640" cy="763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3474720"/>
              </a:tblGrid>
              <a:tr h="1090748">
                <a:tc>
                  <a:txBody>
                    <a:bodyPr wrap="square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Research Publication (Peer-Reviewed)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Incorporated in Our Solution For</a:t>
                      </a:r>
                    </a:p>
                  </a:txBody>
                  <a:tcPr marL="109728" marR="109728" marT="73152" marB="73152" anchor="ctr">
                    <a:solidFill>
                      <a:srgbClr val="0A2540"/>
                    </a:solidFill>
                  </a:tcPr>
                </a:tc>
              </a:tr>
              <a:tr h="1090748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[1] Song et al., 'Convformer: Subsurface T/S Reconstruction,' Remote Sens. 2024, doi:10.3390/rs16132422.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Dual-branch CNN-Transformer embedding engine resolving eddies &amp; planetary waves.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1090748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[2] Xiao, Tang, &amp; Li, 'Observation-Guided PINN (OG-PINN),' Hohai Univ., 2026.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Observation-Guided TEOS-10 density loss &amp; vertical stability formulation.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1090748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[3] Shao et al., '3D-MOPGCBANN: Physics-Guided ST Predicting,' IEEE TGRS 2025, doi:10.1109/TGRS.2025.4213112.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Pareto-optimal stratification stability &amp; buoyancy frequency (N² ≥ 0).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1090748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[4] Sun et al., 'CSSP-ConvLSTM: Subsurface Temperature Reconstruction,' IEEE TGRS 2026, doi:10.1109/TGRS.2026.4202415.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Spatiotemporal ConvLSTM recurrent sequence memory for 3D thermocline dynamics.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1090748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[5] Chae, Donohue, &amp; Park, 'TS-Cast: Deep Learning for Subsurface Ocean,' Ocean Sci. 2026, doi:10.5194/os-22-2161-2026.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Uncertainty-aware multi-task loss formulation coupling temperature &amp; salinity.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</a:tr>
              <a:tr h="1090752"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[6] Xie et al., 'Attention U-Net ST Field in SCS,' IEEE TGRS 2022, doi:10.1109/TGRS.2022.4209319.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40" b="0">
                          <a:solidFill>
                            <a:srgbClr val="0A2540"/>
                          </a:solidFill>
                          <a:latin typeface="Calibri"/>
                        </a:defRPr>
                      </a:pPr>
                      <a:r>
                        <a:t>Robust Huber loss &amp; Wind Stress Curl Ekman pumping vertical advection coupling.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10881360" y="1234440"/>
            <a:ext cx="6858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1325880"/>
            <a:ext cx="64922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Official Open-Access Datasets (MoES &amp; INCOIS)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1691640"/>
            <a:ext cx="64922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✔ SST (OSTIA 0.05° Daily): CMEMS doi:10.48670/moi-00168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✔ SSS (SMAP/SMOS 0.125° Daily): CMEMS doi:10.48670/moi-00051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✔ SSH/SLA (DUACS 0.25° Daily): CMEMS doi:10.48670/moi-00145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✔ Currents &amp; Winds: OSCAR &amp; CCMP 0.25° (PO.DAAC)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✔ In-Situ Ground Truth: INCOIS LAS Gridded ARGO Profilers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81360" y="3840480"/>
            <a:ext cx="685800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0" y="3913632"/>
            <a:ext cx="64922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0A2540"/>
                </a:solidFill>
                <a:latin typeface="Calibri"/>
              </a:defRPr>
            </a:pPr>
            <a:r>
              <a:t>Empirical Validation: Vertical RMSE &amp; Argo Scatter</a:t>
            </a:r>
          </a:p>
        </p:txBody>
      </p:sp>
      <p:pic>
        <p:nvPicPr>
          <p:cNvPr id="17" name="Picture 16" descr="slide6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279392"/>
            <a:ext cx="6675120" cy="301752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0881360" y="7543800"/>
            <a:ext cx="6858000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7635240"/>
            <a:ext cx="64922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7B6"/>
                </a:solidFill>
                <a:latin typeface="Calibri"/>
              </a:defRPr>
            </a:pPr>
            <a:r>
              <a:t>EVIDENCE HIERARCHY &amp; FUTURE EXPANSION</a:t>
            </a:r>
          </a:p>
          <a:p>
            <a:pPr>
              <a:spcAft>
                <a:spcPts val="400"/>
              </a:spcAft>
              <a:defRPr sz="919" b="1">
                <a:solidFill>
                  <a:srgbClr val="0A2540"/>
                </a:solidFill>
                <a:latin typeface="Calibri"/>
              </a:defRPr>
            </a:pPr>
            <a:r>
              <a:t>INCOIS LAS In-Situ ARGO Floats  ➔  CMEMS GLORYS12V1 Reanalysis  ➔  Theoretical PINN Bounds  ➔  Peer Literature</a:t>
            </a:r>
          </a:p>
          <a:p>
            <a:pPr>
              <a:defRPr sz="900">
                <a:solidFill>
                  <a:srgbClr val="1E293B"/>
                </a:solidFill>
                <a:latin typeface="Calibri"/>
              </a:defRPr>
            </a:pPr>
            <a:r>
              <a:t>Future Expansion: Full BGC-Argo biogeochemical parameter reconstruction (Dissolved Oxygen, Chlorophyll-a, pH), Pan-Indian Ocean basin coverage, and direct API dissemination into the INCOIS SAMUDRA mobile application.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