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media/image2.svg" ContentType="image/svg+xml"/>
  <Override PartName="/ppt/media/image3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Times New Roman Bold" charset="1" panose="02020803070505020304"/>
      <p:regular r:id="rId14"/>
    </p:embeddedFont>
    <p:embeddedFont>
      <p:font typeface="Times New Roman" charset="1" panose="02020603050405020304"/>
      <p:regular r:id="rId15"/>
    </p:embeddedFont>
    <p:embeddedFont>
      <p:font typeface="Times New Roman Italics" charset="1" panose="020205030504050903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notesMaster" Target="notesMasters/notesMaster1.xml"/><Relationship Id="rId17" Type="http://schemas.openxmlformats.org/officeDocument/2006/relationships/theme" Target="theme/theme2.xml"/><Relationship Id="rId18" Type="http://schemas.openxmlformats.org/officeDocument/2006/relationships/notesSlide" Target="notesSlides/notesSlide1.xml"/><Relationship Id="rId19" Type="http://schemas.openxmlformats.org/officeDocument/2006/relationships/font" Target="fonts/font19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hyperlink" Target="https://www.bing.com/images/search?view=detailV2&amp;ccid=Gz63W4Ia&amp;id=47592A12D7B0F25D214740072491A6FD6806E12F&amp;thid=OIP.Gz63W4IaI_-dODxnxoCctwHaEK&amp;mediaurl=https%3a%2f%2ff-g.com%2fwp-content%2fuploads%2f2023%2f08%2fman-using-smartphone-voice-assistant-min-scaled-1-scaled.jpg&amp;exph=1079&amp;expw=1920&amp;q=Multi-Voice+Assistant+meaning+image+&amp;FORM=IRPRST&amp;ck=AB9969CA5DD99181DDDB7D704F8CFA3A&amp;selectedIndex=110&amp;itb=0" TargetMode="External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hyperlink" Target="https://www.bing.com/images/search?view=detailV2&amp;ccid=OvGuYxiG&amp;id=2405827C193155CA01A3C091DF7982E124A10FEC&amp;thid=OIP.OvGuYxiGrHk_Pj5HGp6EgAHaEK&amp;mediaurl=https%3a%2f%2forbitshub.com%2fwp-content%2fuploads%2f2025%2f02%2fthe-importance-of-maritime-safety-in-modern-shipping.png&amp;exph=1080&amp;expw=1920&amp;q=real+world+image+Safety+marienimage&amp;FORM=IRPRST&amp;ck=99CE4A2087E3949D9FF78EE20E5C54C8&amp;selectedIndex=5&amp;itb=0" TargetMode="External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4.jpeg"/><Relationship Id="rId12" Type="http://schemas.openxmlformats.org/officeDocument/2006/relationships/image" Target="../media/image13.png"/><Relationship Id="rId13" Type="http://schemas.openxmlformats.org/officeDocument/2006/relationships/hyperlink" Target="https://orca-frontend-dtwk.onrender.com" TargetMode="External"/><Relationship Id="rId14" Type="http://schemas.openxmlformats.org/officeDocument/2006/relationships/image" Target="../media/image14.png"/><Relationship Id="rId15" Type="http://schemas.openxmlformats.org/officeDocument/2006/relationships/hyperlink" Target="https://www.youtube.com/watch?v=VC_6R255cZ8" TargetMode="External"/><Relationship Id="rId16" Type="http://schemas.openxmlformats.org/officeDocument/2006/relationships/image" Target="../media/image15.png"/><Relationship Id="rId17" Type="http://schemas.openxmlformats.org/officeDocument/2006/relationships/hyperlink" Target="https://github.com/ranjith-saravanan/sih26176-research-docs" TargetMode="External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hyperlink" Target="https://orca-frontend-dtwk.onrender.com/" TargetMode="External"/><Relationship Id="rId24" Type="http://schemas.openxmlformats.org/officeDocument/2006/relationships/hyperlink" Target="https://www.youtube.com/watch?v=VC_6R255cZ8" TargetMode="External"/><Relationship Id="rId25" Type="http://schemas.openxmlformats.org/officeDocument/2006/relationships/hyperlink" Target="https://github.com/ranjith-saravanan/sih26176-research-docs" TargetMode="External"/><Relationship Id="rId26" Type="http://schemas.openxmlformats.org/officeDocument/2006/relationships/hyperlink" Target="https://drive.google.com/drive/folders/1F29nV_9NKjvjrsBUHfZItZSnirj6Jejq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4.jpeg"/><Relationship Id="rId4" Type="http://schemas.openxmlformats.org/officeDocument/2006/relationships/image" Target="../media/image19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image" Target="../media/image4.jpe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oleObject" Target="../embeddings/oleObject1.bin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hyperlink" Target="https://orca-frontend-dtwk.onrender.com" TargetMode="External"/><Relationship Id="rId13" Type="http://schemas.openxmlformats.org/officeDocument/2006/relationships/hyperlink" Target="https://www.canva.com/design/DAHWbpN2Y74/QIrGCzGes0zTofDJaZDMOA/edi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1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Relationship Id="rId4" Type="http://schemas.openxmlformats.org/officeDocument/2006/relationships/image" Target="../media/image4.jpeg"/><Relationship Id="rId5" Type="http://schemas.openxmlformats.org/officeDocument/2006/relationships/image" Target="../media/image37.png"/><Relationship Id="rId6" Type="http://schemas.openxmlformats.org/officeDocument/2006/relationships/image" Target="../media/image38.svg"/><Relationship Id="rId7" Type="http://schemas.openxmlformats.org/officeDocument/2006/relationships/hyperlink" Target="https://www.cmfri.org.in" TargetMode="External"/><Relationship Id="rId8" Type="http://schemas.openxmlformats.org/officeDocument/2006/relationships/hyperlink" Target="https://incois.gov.in/portal" TargetMode="External"/><Relationship Id="rId9" Type="http://schemas.openxmlformats.org/officeDocument/2006/relationships/hyperlink" Target="https://mosdac.gov.in" TargetMode="External"/><Relationship Id="rId10" Type="http://schemas.openxmlformats.org/officeDocument/2006/relationships/hyperlink" Target="https://mausam.imd.gov.in" TargetMode="External"/><Relationship Id="rId11" Type="http://schemas.openxmlformats.org/officeDocument/2006/relationships/hyperlink" Target="https://sachet.ndma.gov.in" TargetMode="External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96929" y="2851462"/>
            <a:ext cx="8703945" cy="686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t/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SIH26066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Title: Satellite Embedding-Based Deep Learning Framework to Reconstruct Depth-Wise Subsurface Temperature in the North Indian Ocean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Organization: Ministry of Earth Sciences (MoES) | INCOIS Ocean Valley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Theme: Disaster Management | PS Category: Software Edition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ID: 188334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1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Name: OceanVision AI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465605" y="1693109"/>
            <a:ext cx="3554754" cy="2310507"/>
            <a:chOff x="0" y="0"/>
            <a:chExt cx="7730247" cy="5192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30247" cy="5192903"/>
            </a:xfrm>
            <a:custGeom>
              <a:avLst/>
              <a:gdLst/>
              <a:ahLst/>
              <a:cxnLst/>
              <a:rect r="r" b="b" t="t" l="l"/>
              <a:pathLst>
                <a:path h="5192903" w="7730247">
                  <a:moveTo>
                    <a:pt x="0" y="305943"/>
                  </a:moveTo>
                  <a:cubicBezTo>
                    <a:pt x="0" y="136906"/>
                    <a:pt x="150555" y="0"/>
                    <a:pt x="336444" y="0"/>
                  </a:cubicBezTo>
                  <a:lnTo>
                    <a:pt x="7393803" y="0"/>
                  </a:lnTo>
                  <a:cubicBezTo>
                    <a:pt x="7579552" y="0"/>
                    <a:pt x="7730247" y="136906"/>
                    <a:pt x="7730247" y="305943"/>
                  </a:cubicBezTo>
                  <a:lnTo>
                    <a:pt x="7730247" y="4886960"/>
                  </a:lnTo>
                  <a:cubicBezTo>
                    <a:pt x="7730247" y="5055870"/>
                    <a:pt x="7579692" y="5192903"/>
                    <a:pt x="7393803" y="5192903"/>
                  </a:cubicBezTo>
                  <a:lnTo>
                    <a:pt x="336444" y="5192903"/>
                  </a:lnTo>
                  <a:cubicBezTo>
                    <a:pt x="150555" y="5192903"/>
                    <a:pt x="0" y="5055997"/>
                    <a:pt x="0" y="4886960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7767441" y="1875343"/>
            <a:ext cx="2951082" cy="1035416"/>
            <a:chOff x="0" y="0"/>
            <a:chExt cx="6829432" cy="2476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829432" cy="2476500"/>
            </a:xfrm>
            <a:custGeom>
              <a:avLst/>
              <a:gdLst/>
              <a:ahLst/>
              <a:cxnLst/>
              <a:rect r="r" b="b" t="t" l="l"/>
              <a:pathLst>
                <a:path h="2476500" w="6829432">
                  <a:moveTo>
                    <a:pt x="0" y="0"/>
                  </a:moveTo>
                  <a:lnTo>
                    <a:pt x="6829432" y="0"/>
                  </a:lnTo>
                  <a:lnTo>
                    <a:pt x="6829432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4230" t="-38207" r="0" b="-38207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079752" y="1651178"/>
            <a:ext cx="3506241" cy="2310507"/>
            <a:chOff x="0" y="0"/>
            <a:chExt cx="7624750" cy="51929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4749" cy="5192903"/>
            </a:xfrm>
            <a:custGeom>
              <a:avLst/>
              <a:gdLst/>
              <a:ahLst/>
              <a:cxnLst/>
              <a:rect r="r" b="b" t="t" l="l"/>
              <a:pathLst>
                <a:path h="5192903" w="7624749">
                  <a:moveTo>
                    <a:pt x="0" y="305943"/>
                  </a:moveTo>
                  <a:cubicBezTo>
                    <a:pt x="0" y="136906"/>
                    <a:pt x="148500" y="0"/>
                    <a:pt x="331852" y="0"/>
                  </a:cubicBezTo>
                  <a:lnTo>
                    <a:pt x="7292897" y="0"/>
                  </a:lnTo>
                  <a:cubicBezTo>
                    <a:pt x="7476111" y="0"/>
                    <a:pt x="7624749" y="136906"/>
                    <a:pt x="7624749" y="305943"/>
                  </a:cubicBezTo>
                  <a:lnTo>
                    <a:pt x="7624749" y="4886960"/>
                  </a:lnTo>
                  <a:cubicBezTo>
                    <a:pt x="7624749" y="5055870"/>
                    <a:pt x="7476249" y="5192903"/>
                    <a:pt x="7292897" y="5192903"/>
                  </a:cubicBezTo>
                  <a:lnTo>
                    <a:pt x="331852" y="5192903"/>
                  </a:lnTo>
                  <a:cubicBezTo>
                    <a:pt x="148500" y="5192903"/>
                    <a:pt x="0" y="5055997"/>
                    <a:pt x="0" y="4886960"/>
                  </a:cubicBezTo>
                  <a:close/>
                </a:path>
              </a:pathLst>
            </a:custGeom>
            <a:solidFill>
              <a:srgbClr val="E6EEFB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1286871" y="1833412"/>
            <a:ext cx="3140514" cy="1101880"/>
            <a:chOff x="0" y="0"/>
            <a:chExt cx="6829432" cy="2476500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6829432" cy="2476500"/>
            </a:xfrm>
            <a:custGeom>
              <a:avLst/>
              <a:gdLst/>
              <a:ahLst/>
              <a:cxnLst/>
              <a:rect r="r" b="b" t="t" l="l"/>
              <a:pathLst>
                <a:path h="2476500" w="6829432">
                  <a:moveTo>
                    <a:pt x="0" y="0"/>
                  </a:moveTo>
                  <a:lnTo>
                    <a:pt x="6829432" y="0"/>
                  </a:lnTo>
                  <a:lnTo>
                    <a:pt x="6829432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5069" r="0" b="-5069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337939" y="1833412"/>
            <a:ext cx="2951082" cy="1035416"/>
            <a:chOff x="0" y="0"/>
            <a:chExt cx="6829432" cy="2476500"/>
          </a:xfrm>
        </p:grpSpPr>
        <p:sp>
          <p:nvSpPr>
            <p:cNvPr name="Freeform 11" id="11">
              <a:hlinkClick r:id="rId4" tooltip="https://www.bing.com/images/search?view=detailV2&amp;ccid=Gz63W4Ia&amp;id=47592A12D7B0F25D214740072491A6FD6806E12F&amp;thid=OIP.Gz63W4IaI_-dODxnxoCctwHaEK&amp;mediaurl=https%3a%2f%2ff-g.com%2fwp-content%2fuploads%2f2023%2f08%2fman-using-smartphone-voice-assistant-min-scaled-1-scaled.jpg&amp;exph=1079&amp;expw=1920&amp;q=Multi-Voice+Assistant+meaning+image+&amp;FORM=IRPRST&amp;ck=AB9969CA5DD99181DDDB7D704F8CFA3A&amp;selectedIndex=110&amp;itb=0"/>
            </p:cNvPr>
            <p:cNvSpPr/>
            <p:nvPr/>
          </p:nvSpPr>
          <p:spPr>
            <a:xfrm flipH="false" flipV="false" rot="0">
              <a:off x="0" y="0"/>
              <a:ext cx="6829432" cy="2476500"/>
            </a:xfrm>
            <a:custGeom>
              <a:avLst/>
              <a:gdLst/>
              <a:ahLst/>
              <a:cxnLst/>
              <a:rect r="r" b="b" t="t" l="l"/>
              <a:pathLst>
                <a:path h="2476500" w="6829432">
                  <a:moveTo>
                    <a:pt x="0" y="0"/>
                  </a:moveTo>
                  <a:lnTo>
                    <a:pt x="6829432" y="0"/>
                  </a:lnTo>
                  <a:lnTo>
                    <a:pt x="6829432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14" t="-6502" r="0" b="-493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654806" y="4134203"/>
            <a:ext cx="3506549" cy="2369064"/>
            <a:chOff x="0" y="0"/>
            <a:chExt cx="7625418" cy="532452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5418" cy="5324511"/>
            </a:xfrm>
            <a:custGeom>
              <a:avLst/>
              <a:gdLst/>
              <a:ahLst/>
              <a:cxnLst/>
              <a:rect r="r" b="b" t="t" l="l"/>
              <a:pathLst>
                <a:path h="5324511" w="7625418">
                  <a:moveTo>
                    <a:pt x="0" y="313697"/>
                  </a:moveTo>
                  <a:cubicBezTo>
                    <a:pt x="0" y="140376"/>
                    <a:pt x="148513" y="0"/>
                    <a:pt x="331881" y="0"/>
                  </a:cubicBezTo>
                  <a:lnTo>
                    <a:pt x="7293536" y="0"/>
                  </a:lnTo>
                  <a:cubicBezTo>
                    <a:pt x="7476767" y="0"/>
                    <a:pt x="7625418" y="140376"/>
                    <a:pt x="7625418" y="313697"/>
                  </a:cubicBezTo>
                  <a:lnTo>
                    <a:pt x="7625418" y="5010815"/>
                  </a:lnTo>
                  <a:cubicBezTo>
                    <a:pt x="7625418" y="5184006"/>
                    <a:pt x="7476905" y="5324511"/>
                    <a:pt x="7293536" y="5324511"/>
                  </a:cubicBezTo>
                  <a:lnTo>
                    <a:pt x="331881" y="5324511"/>
                  </a:lnTo>
                  <a:cubicBezTo>
                    <a:pt x="148513" y="5324512"/>
                    <a:pt x="0" y="5184136"/>
                    <a:pt x="0" y="5010815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B4B4B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4958390" y="4307436"/>
            <a:ext cx="2923456" cy="959913"/>
            <a:chOff x="0" y="0"/>
            <a:chExt cx="7297650" cy="2476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97650" cy="2476500"/>
            </a:xfrm>
            <a:custGeom>
              <a:avLst/>
              <a:gdLst/>
              <a:ahLst/>
              <a:cxnLst/>
              <a:rect r="r" b="b" t="t" l="l"/>
              <a:pathLst>
                <a:path h="2476500" w="7297650">
                  <a:moveTo>
                    <a:pt x="0" y="0"/>
                  </a:moveTo>
                  <a:lnTo>
                    <a:pt x="7297650" y="0"/>
                  </a:lnTo>
                  <a:lnTo>
                    <a:pt x="729765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47398" r="0" b="-2204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7465605" y="4134203"/>
            <a:ext cx="3548140" cy="2369064"/>
            <a:chOff x="0" y="0"/>
            <a:chExt cx="8066035" cy="556616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066035" cy="5566156"/>
            </a:xfrm>
            <a:custGeom>
              <a:avLst/>
              <a:gdLst/>
              <a:ahLst/>
              <a:cxnLst/>
              <a:rect r="r" b="b" t="t" l="l"/>
              <a:pathLst>
                <a:path h="5566156" w="8066035">
                  <a:moveTo>
                    <a:pt x="0" y="305816"/>
                  </a:moveTo>
                  <a:cubicBezTo>
                    <a:pt x="0" y="136906"/>
                    <a:pt x="157095" y="0"/>
                    <a:pt x="350913" y="0"/>
                  </a:cubicBezTo>
                  <a:lnTo>
                    <a:pt x="7715122" y="0"/>
                  </a:lnTo>
                  <a:cubicBezTo>
                    <a:pt x="7908940" y="0"/>
                    <a:pt x="8066035" y="136906"/>
                    <a:pt x="8066035" y="305816"/>
                  </a:cubicBezTo>
                  <a:lnTo>
                    <a:pt x="8066035" y="5260340"/>
                  </a:lnTo>
                  <a:cubicBezTo>
                    <a:pt x="8066035" y="5429250"/>
                    <a:pt x="7908940" y="5566156"/>
                    <a:pt x="7715122" y="5566156"/>
                  </a:cubicBezTo>
                  <a:lnTo>
                    <a:pt x="350913" y="5566156"/>
                  </a:lnTo>
                  <a:cubicBezTo>
                    <a:pt x="157095" y="5566156"/>
                    <a:pt x="0" y="5429250"/>
                    <a:pt x="0" y="5260340"/>
                  </a:cubicBezTo>
                  <a:close/>
                </a:path>
              </a:pathLst>
            </a:custGeom>
            <a:solidFill>
              <a:srgbClr val="EFF6FF"/>
            </a:solidFill>
            <a:ln w="14288" cap="sq">
              <a:solidFill>
                <a:srgbClr val="BFDBFE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7719146" y="4299880"/>
            <a:ext cx="3004309" cy="1010209"/>
            <a:chOff x="0" y="0"/>
            <a:chExt cx="7126090" cy="24765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126091" cy="2476500"/>
            </a:xfrm>
            <a:custGeom>
              <a:avLst/>
              <a:gdLst/>
              <a:ahLst/>
              <a:cxnLst/>
              <a:rect r="r" b="b" t="t" l="l"/>
              <a:pathLst>
                <a:path h="2476500" w="7126091">
                  <a:moveTo>
                    <a:pt x="0" y="0"/>
                  </a:moveTo>
                  <a:lnTo>
                    <a:pt x="7126091" y="0"/>
                  </a:lnTo>
                  <a:lnTo>
                    <a:pt x="7126091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30929" r="0" b="-30929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079752" y="4090337"/>
            <a:ext cx="3506241" cy="2412929"/>
            <a:chOff x="0" y="0"/>
            <a:chExt cx="7825882" cy="556616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825882" cy="5566156"/>
            </a:xfrm>
            <a:custGeom>
              <a:avLst/>
              <a:gdLst/>
              <a:ahLst/>
              <a:cxnLst/>
              <a:rect r="r" b="b" t="t" l="l"/>
              <a:pathLst>
                <a:path h="5566156" w="7825882">
                  <a:moveTo>
                    <a:pt x="0" y="305816"/>
                  </a:moveTo>
                  <a:cubicBezTo>
                    <a:pt x="0" y="136906"/>
                    <a:pt x="152417" y="0"/>
                    <a:pt x="340465" y="0"/>
                  </a:cubicBezTo>
                  <a:lnTo>
                    <a:pt x="7485417" y="0"/>
                  </a:lnTo>
                  <a:cubicBezTo>
                    <a:pt x="7673464" y="0"/>
                    <a:pt x="7825882" y="136906"/>
                    <a:pt x="7825882" y="305816"/>
                  </a:cubicBezTo>
                  <a:lnTo>
                    <a:pt x="7825882" y="5260340"/>
                  </a:lnTo>
                  <a:cubicBezTo>
                    <a:pt x="7825882" y="5429250"/>
                    <a:pt x="7673464" y="5566156"/>
                    <a:pt x="7485417" y="5566156"/>
                  </a:cubicBezTo>
                  <a:lnTo>
                    <a:pt x="340465" y="5566156"/>
                  </a:lnTo>
                  <a:cubicBezTo>
                    <a:pt x="152417" y="5566156"/>
                    <a:pt x="0" y="5429250"/>
                    <a:pt x="0" y="5260340"/>
                  </a:cubicBezTo>
                  <a:close/>
                </a:path>
              </a:pathLst>
            </a:custGeom>
            <a:solidFill>
              <a:srgbClr val="F0FDF4"/>
            </a:solidFill>
            <a:ln w="14288" cap="sq">
              <a:solidFill>
                <a:srgbClr val="BBF7D0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358297" y="4350177"/>
            <a:ext cx="2949150" cy="959913"/>
            <a:chOff x="0" y="0"/>
            <a:chExt cx="7361786" cy="2476500"/>
          </a:xfrm>
        </p:grpSpPr>
        <p:sp>
          <p:nvSpPr>
            <p:cNvPr name="Freeform 23" id="23">
              <a:hlinkClick r:id="rId8" tooltip="https://www.bing.com/images/search?view=detailV2&amp;ccid=OvGuYxiG&amp;id=2405827C193155CA01A3C091DF7982E124A10FEC&amp;thid=OIP.OvGuYxiGrHk_Pj5HGp6EgAHaEK&amp;mediaurl=https%3a%2f%2forbitshub.com%2fwp-content%2fuploads%2f2025%2f02%2fthe-importance-of-maritime-safety-in-modern-shipping.png&amp;exph=1080&amp;expw=1920&amp;q=real+world+image+Safety+marienimage&amp;FORM=IRPRST&amp;ck=99CE4A2087E3949D9FF78EE20E5C54C8&amp;selectedIndex=5&amp;itb=0"/>
            </p:cNvPr>
            <p:cNvSpPr/>
            <p:nvPr/>
          </p:nvSpPr>
          <p:spPr>
            <a:xfrm flipH="false" flipV="false" rot="0">
              <a:off x="0" y="0"/>
              <a:ext cx="7361786" cy="2476500"/>
            </a:xfrm>
            <a:custGeom>
              <a:avLst/>
              <a:gdLst/>
              <a:ahLst/>
              <a:cxnLst/>
              <a:rect r="r" b="b" t="t" l="l"/>
              <a:pathLst>
                <a:path h="2476500" w="7361786">
                  <a:moveTo>
                    <a:pt x="0" y="0"/>
                  </a:moveTo>
                  <a:lnTo>
                    <a:pt x="7361786" y="0"/>
                  </a:lnTo>
                  <a:lnTo>
                    <a:pt x="7361786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456" t="-66299" r="-3456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606601" y="1693109"/>
            <a:ext cx="3554754" cy="2310507"/>
            <a:chOff x="0" y="0"/>
            <a:chExt cx="7730247" cy="519291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730247" cy="5192903"/>
            </a:xfrm>
            <a:custGeom>
              <a:avLst/>
              <a:gdLst/>
              <a:ahLst/>
              <a:cxnLst/>
              <a:rect r="r" b="b" t="t" l="l"/>
              <a:pathLst>
                <a:path h="5192903" w="7730247">
                  <a:moveTo>
                    <a:pt x="0" y="305943"/>
                  </a:moveTo>
                  <a:cubicBezTo>
                    <a:pt x="0" y="136906"/>
                    <a:pt x="150555" y="0"/>
                    <a:pt x="336444" y="0"/>
                  </a:cubicBezTo>
                  <a:lnTo>
                    <a:pt x="7393803" y="0"/>
                  </a:lnTo>
                  <a:cubicBezTo>
                    <a:pt x="7579552" y="0"/>
                    <a:pt x="7730247" y="136906"/>
                    <a:pt x="7730247" y="305943"/>
                  </a:cubicBezTo>
                  <a:lnTo>
                    <a:pt x="7730247" y="4886960"/>
                  </a:lnTo>
                  <a:cubicBezTo>
                    <a:pt x="7730247" y="5055870"/>
                    <a:pt x="7579692" y="5192903"/>
                    <a:pt x="7393803" y="5192903"/>
                  </a:cubicBezTo>
                  <a:lnTo>
                    <a:pt x="336444" y="5192903"/>
                  </a:lnTo>
                  <a:cubicBezTo>
                    <a:pt x="150555" y="5192903"/>
                    <a:pt x="0" y="5055997"/>
                    <a:pt x="0" y="4886960"/>
                  </a:cubicBezTo>
                  <a:close/>
                </a:path>
              </a:pathLst>
            </a:custGeom>
            <a:solidFill>
              <a:srgbClr val="EFF6FF"/>
            </a:solidFill>
            <a:ln w="14288" cap="sq">
              <a:solidFill>
                <a:srgbClr val="BFDBF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4844199" y="1833412"/>
            <a:ext cx="2951082" cy="1035416"/>
            <a:chOff x="0" y="0"/>
            <a:chExt cx="6829432" cy="24765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29432" cy="2476500"/>
            </a:xfrm>
            <a:custGeom>
              <a:avLst/>
              <a:gdLst/>
              <a:ahLst/>
              <a:cxnLst/>
              <a:rect r="r" b="b" t="t" l="l"/>
              <a:pathLst>
                <a:path h="2476500" w="6829432">
                  <a:moveTo>
                    <a:pt x="0" y="0"/>
                  </a:moveTo>
                  <a:lnTo>
                    <a:pt x="6829432" y="0"/>
                  </a:lnTo>
                  <a:lnTo>
                    <a:pt x="6829432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6654" r="0" b="-7707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7801232" y="1026801"/>
            <a:ext cx="5702280" cy="557702"/>
            <a:chOff x="0" y="0"/>
            <a:chExt cx="7198549" cy="70404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198549" cy="704042"/>
            </a:xfrm>
            <a:custGeom>
              <a:avLst/>
              <a:gdLst/>
              <a:ahLst/>
              <a:cxnLst/>
              <a:rect r="r" b="b" t="t" l="l"/>
              <a:pathLst>
                <a:path h="704042" w="7198549">
                  <a:moveTo>
                    <a:pt x="0" y="0"/>
                  </a:moveTo>
                  <a:lnTo>
                    <a:pt x="7198549" y="0"/>
                  </a:lnTo>
                  <a:lnTo>
                    <a:pt x="7198549" y="704042"/>
                  </a:lnTo>
                  <a:lnTo>
                    <a:pt x="0" y="704042"/>
                  </a:lnTo>
                  <a:close/>
                </a:path>
              </a:pathLst>
            </a:custGeom>
            <a:blipFill>
              <a:blip r:embed="rId11">
                <a:alphaModFix amt="0"/>
              </a:blip>
              <a:stretch>
                <a:fillRect l="0" t="-194458" r="-21944" b="-191434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7198549" cy="7135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b="1" sz="2499">
                  <a:solidFill>
                    <a:srgbClr val="1F49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What’s new in our Solution — Technical Innovations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4607116" y="3411483"/>
            <a:ext cx="2696496" cy="4187655"/>
          </a:xfrm>
          <a:custGeom>
            <a:avLst/>
            <a:gdLst/>
            <a:ahLst/>
            <a:cxnLst/>
            <a:rect r="r" b="b" t="t" l="l"/>
            <a:pathLst>
              <a:path h="4187655" w="2696496">
                <a:moveTo>
                  <a:pt x="0" y="0"/>
                </a:moveTo>
                <a:lnTo>
                  <a:pt x="2696496" y="0"/>
                </a:lnTo>
                <a:lnTo>
                  <a:pt x="2696496" y="4187655"/>
                </a:lnTo>
                <a:lnTo>
                  <a:pt x="0" y="418765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608" t="-378" r="0" b="-378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370332" y="2779549"/>
            <a:ext cx="3416523" cy="371368"/>
            <a:chOff x="0" y="0"/>
            <a:chExt cx="899825" cy="9780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99825" cy="97809"/>
            </a:xfrm>
            <a:custGeom>
              <a:avLst/>
              <a:gdLst/>
              <a:ahLst/>
              <a:cxnLst/>
              <a:rect r="r" b="b" t="t" l="l"/>
              <a:pathLst>
                <a:path h="97809" w="899825">
                  <a:moveTo>
                    <a:pt x="38522" y="0"/>
                  </a:moveTo>
                  <a:lnTo>
                    <a:pt x="861303" y="0"/>
                  </a:lnTo>
                  <a:cubicBezTo>
                    <a:pt x="882578" y="0"/>
                    <a:pt x="899825" y="17247"/>
                    <a:pt x="899825" y="38522"/>
                  </a:cubicBezTo>
                  <a:lnTo>
                    <a:pt x="899825" y="59287"/>
                  </a:lnTo>
                  <a:cubicBezTo>
                    <a:pt x="899825" y="80562"/>
                    <a:pt x="882578" y="97809"/>
                    <a:pt x="861303" y="97809"/>
                  </a:cubicBezTo>
                  <a:lnTo>
                    <a:pt x="38522" y="97809"/>
                  </a:lnTo>
                  <a:cubicBezTo>
                    <a:pt x="17247" y="97809"/>
                    <a:pt x="0" y="80562"/>
                    <a:pt x="0" y="59287"/>
                  </a:cubicBezTo>
                  <a:lnTo>
                    <a:pt x="0" y="38522"/>
                  </a:lnTo>
                  <a:cubicBezTo>
                    <a:pt x="0" y="17247"/>
                    <a:pt x="17247" y="0"/>
                    <a:pt x="38522" y="0"/>
                  </a:cubicBezTo>
                  <a:close/>
                </a:path>
              </a:pathLst>
            </a:custGeom>
            <a:solidFill>
              <a:srgbClr val="545454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899825" cy="1073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7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36792" y="1619664"/>
            <a:ext cx="7009738" cy="1084355"/>
            <a:chOff x="0" y="0"/>
            <a:chExt cx="9346317" cy="144580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346317" cy="1445806"/>
            </a:xfrm>
            <a:custGeom>
              <a:avLst/>
              <a:gdLst/>
              <a:ahLst/>
              <a:cxnLst/>
              <a:rect r="r" b="b" t="t" l="l"/>
              <a:pathLst>
                <a:path h="1445806" w="9346317">
                  <a:moveTo>
                    <a:pt x="0" y="0"/>
                  </a:moveTo>
                  <a:lnTo>
                    <a:pt x="9346317" y="0"/>
                  </a:lnTo>
                  <a:lnTo>
                    <a:pt x="9346317" y="1445806"/>
                  </a:lnTo>
                  <a:lnTo>
                    <a:pt x="0" y="1445806"/>
                  </a:lnTo>
                  <a:close/>
                </a:path>
              </a:pathLst>
            </a:custGeom>
            <a:blipFill>
              <a:blip r:embed="rId11">
                <a:alphaModFix amt="0"/>
              </a:blip>
              <a:stretch>
                <a:fillRect l="0" t="-94692" r="6078" b="-4191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9346317" cy="1474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19"/>
                </a:lnSpc>
              </a:pPr>
              <a:r>
                <a:rPr lang="en-US" b="1" sz="3099">
                  <a:solidFill>
                    <a:srgbClr val="1F49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Pain Point: Ocean Opacity &amp; In-Situ Gaps</a:t>
              </a:r>
            </a:p>
            <a:p>
              <a:pPr algn="ctr">
                <a:lnSpc>
                  <a:spcPts val="3719"/>
                </a:lnSpc>
              </a:pPr>
              <a:r>
                <a:rPr lang="en-US" b="1" sz="3099">
                  <a:solidFill>
                    <a:srgbClr val="1F49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Argo floats drift ~300 km apart (10-day delay); satellites only see the surface skin.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23192" y="4593493"/>
            <a:ext cx="3768343" cy="381200"/>
            <a:chOff x="0" y="0"/>
            <a:chExt cx="992485" cy="10039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92485" cy="100398"/>
            </a:xfrm>
            <a:custGeom>
              <a:avLst/>
              <a:gdLst/>
              <a:ahLst/>
              <a:cxnLst/>
              <a:rect r="r" b="b" t="t" l="l"/>
              <a:pathLst>
                <a:path h="100398" w="992485">
                  <a:moveTo>
                    <a:pt x="34926" y="0"/>
                  </a:moveTo>
                  <a:lnTo>
                    <a:pt x="957560" y="0"/>
                  </a:lnTo>
                  <a:cubicBezTo>
                    <a:pt x="966822" y="0"/>
                    <a:pt x="975706" y="3680"/>
                    <a:pt x="982256" y="10230"/>
                  </a:cubicBezTo>
                  <a:cubicBezTo>
                    <a:pt x="988806" y="16779"/>
                    <a:pt x="992485" y="25663"/>
                    <a:pt x="992485" y="34926"/>
                  </a:cubicBezTo>
                  <a:lnTo>
                    <a:pt x="992485" y="65472"/>
                  </a:lnTo>
                  <a:cubicBezTo>
                    <a:pt x="992485" y="84761"/>
                    <a:pt x="976849" y="100398"/>
                    <a:pt x="957560" y="100398"/>
                  </a:cubicBezTo>
                  <a:lnTo>
                    <a:pt x="34926" y="100398"/>
                  </a:lnTo>
                  <a:cubicBezTo>
                    <a:pt x="15637" y="100398"/>
                    <a:pt x="0" y="84761"/>
                    <a:pt x="0" y="65472"/>
                  </a:cubicBezTo>
                  <a:lnTo>
                    <a:pt x="0" y="34926"/>
                  </a:lnTo>
                  <a:cubicBezTo>
                    <a:pt x="0" y="15637"/>
                    <a:pt x="15637" y="0"/>
                    <a:pt x="34926" y="0"/>
                  </a:cubicBezTo>
                  <a:close/>
                </a:path>
              </a:pathLst>
            </a:custGeom>
            <a:solidFill>
              <a:srgbClr val="545454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992485" cy="1099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7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93875" y="6611807"/>
            <a:ext cx="3940398" cy="367709"/>
            <a:chOff x="0" y="0"/>
            <a:chExt cx="920773" cy="8592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20773" cy="85925"/>
            </a:xfrm>
            <a:custGeom>
              <a:avLst/>
              <a:gdLst/>
              <a:ahLst/>
              <a:cxnLst/>
              <a:rect r="r" b="b" t="t" l="l"/>
              <a:pathLst>
                <a:path h="85925" w="920773">
                  <a:moveTo>
                    <a:pt x="33401" y="0"/>
                  </a:moveTo>
                  <a:lnTo>
                    <a:pt x="887372" y="0"/>
                  </a:lnTo>
                  <a:cubicBezTo>
                    <a:pt x="896230" y="0"/>
                    <a:pt x="904726" y="3519"/>
                    <a:pt x="910990" y="9783"/>
                  </a:cubicBezTo>
                  <a:cubicBezTo>
                    <a:pt x="917254" y="16047"/>
                    <a:pt x="920773" y="24542"/>
                    <a:pt x="920773" y="33401"/>
                  </a:cubicBezTo>
                  <a:lnTo>
                    <a:pt x="920773" y="52524"/>
                  </a:lnTo>
                  <a:cubicBezTo>
                    <a:pt x="920773" y="61382"/>
                    <a:pt x="917254" y="69878"/>
                    <a:pt x="910990" y="76142"/>
                  </a:cubicBezTo>
                  <a:cubicBezTo>
                    <a:pt x="904726" y="82406"/>
                    <a:pt x="896230" y="85925"/>
                    <a:pt x="887372" y="85925"/>
                  </a:cubicBezTo>
                  <a:lnTo>
                    <a:pt x="33401" y="85925"/>
                  </a:lnTo>
                  <a:cubicBezTo>
                    <a:pt x="24542" y="85925"/>
                    <a:pt x="16047" y="82406"/>
                    <a:pt x="9783" y="76142"/>
                  </a:cubicBezTo>
                  <a:cubicBezTo>
                    <a:pt x="3519" y="69878"/>
                    <a:pt x="0" y="61382"/>
                    <a:pt x="0" y="52524"/>
                  </a:cubicBezTo>
                  <a:lnTo>
                    <a:pt x="0" y="33401"/>
                  </a:lnTo>
                  <a:cubicBezTo>
                    <a:pt x="0" y="24542"/>
                    <a:pt x="3519" y="16047"/>
                    <a:pt x="9783" y="9783"/>
                  </a:cubicBezTo>
                  <a:cubicBezTo>
                    <a:pt x="16047" y="3519"/>
                    <a:pt x="24542" y="0"/>
                    <a:pt x="33401" y="0"/>
                  </a:cubicBezTo>
                  <a:close/>
                </a:path>
              </a:pathLst>
            </a:custGeom>
            <a:solidFill>
              <a:srgbClr val="545454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920773" cy="9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7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6249" y="8940356"/>
            <a:ext cx="567867" cy="567867"/>
            <a:chOff x="0" y="0"/>
            <a:chExt cx="780288" cy="780288"/>
          </a:xfrm>
        </p:grpSpPr>
        <p:sp>
          <p:nvSpPr>
            <p:cNvPr name="Freeform 45" id="45" descr="preencoded.png">
              <a:hlinkClick r:id="rId13" tooltip="https://orca-frontend-dtwk.onrender.com"/>
            </p:cNvPr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2302995" y="8942667"/>
            <a:ext cx="567867" cy="567867"/>
            <a:chOff x="0" y="0"/>
            <a:chExt cx="780288" cy="780288"/>
          </a:xfrm>
        </p:grpSpPr>
        <p:sp>
          <p:nvSpPr>
            <p:cNvPr name="Freeform 47" id="47" descr="preencoded.png">
              <a:hlinkClick r:id="rId15" tooltip="https://www.youtube.com/watch?v=VC_6R255cZ8"/>
            </p:cNvPr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3855492" y="8940356"/>
            <a:ext cx="555522" cy="567867"/>
            <a:chOff x="0" y="0"/>
            <a:chExt cx="763325" cy="780288"/>
          </a:xfrm>
        </p:grpSpPr>
        <p:sp>
          <p:nvSpPr>
            <p:cNvPr name="Freeform 49" id="49" descr="preencoded.png">
              <a:hlinkClick r:id="rId17" tooltip="https://github.com/ranjith-saravanan/sih26176-research-docs"/>
            </p:cNvPr>
            <p:cNvSpPr/>
            <p:nvPr/>
          </p:nvSpPr>
          <p:spPr>
            <a:xfrm flipH="false" flipV="false" rot="0">
              <a:off x="0" y="0"/>
              <a:ext cx="763325" cy="780288"/>
            </a:xfrm>
            <a:custGeom>
              <a:avLst/>
              <a:gdLst/>
              <a:ahLst/>
              <a:cxnLst/>
              <a:rect r="r" b="b" t="t" l="l"/>
              <a:pathLst>
                <a:path h="780288" w="763325">
                  <a:moveTo>
                    <a:pt x="0" y="0"/>
                  </a:moveTo>
                  <a:lnTo>
                    <a:pt x="763325" y="0"/>
                  </a:lnTo>
                  <a:lnTo>
                    <a:pt x="763325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1111" t="0" r="-1111" b="0"/>
              </a:stretch>
            </a:blipFill>
          </p:spPr>
        </p:sp>
      </p:grpSp>
      <p:sp>
        <p:nvSpPr>
          <p:cNvPr name="Freeform 50" id="50"/>
          <p:cNvSpPr/>
          <p:nvPr/>
        </p:nvSpPr>
        <p:spPr>
          <a:xfrm flipH="false" flipV="false" rot="0">
            <a:off x="5285879" y="8942667"/>
            <a:ext cx="565555" cy="565555"/>
          </a:xfrm>
          <a:custGeom>
            <a:avLst/>
            <a:gdLst/>
            <a:ahLst/>
            <a:cxnLst/>
            <a:rect r="r" b="b" t="t" l="l"/>
            <a:pathLst>
              <a:path h="565555" w="565555">
                <a:moveTo>
                  <a:pt x="0" y="0"/>
                </a:moveTo>
                <a:lnTo>
                  <a:pt x="565555" y="0"/>
                </a:lnTo>
                <a:lnTo>
                  <a:pt x="565555" y="565555"/>
                </a:lnTo>
                <a:lnTo>
                  <a:pt x="0" y="56555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grpSp>
        <p:nvGrpSpPr>
          <p:cNvPr name="Group 51" id="51"/>
          <p:cNvGrpSpPr/>
          <p:nvPr/>
        </p:nvGrpSpPr>
        <p:grpSpPr>
          <a:xfrm rot="0">
            <a:off x="370332" y="278892"/>
            <a:ext cx="1316736" cy="1069848"/>
            <a:chOff x="0" y="0"/>
            <a:chExt cx="1755648" cy="1426464"/>
          </a:xfrm>
        </p:grpSpPr>
        <p:sp>
          <p:nvSpPr>
            <p:cNvPr name="Freeform 52" id="52" descr="orca.png"/>
            <p:cNvSpPr/>
            <p:nvPr/>
          </p:nvSpPr>
          <p:spPr>
            <a:xfrm flipH="false" flipV="false" rot="0">
              <a:off x="0" y="0"/>
              <a:ext cx="1755648" cy="1426464"/>
            </a:xfrm>
            <a:custGeom>
              <a:avLst/>
              <a:gdLst/>
              <a:ahLst/>
              <a:cxnLst/>
              <a:rect r="r" b="b" t="t" l="l"/>
              <a:pathLst>
                <a:path h="1426464" w="1755648">
                  <a:moveTo>
                    <a:pt x="0" y="0"/>
                  </a:moveTo>
                  <a:lnTo>
                    <a:pt x="1755648" y="0"/>
                  </a:lnTo>
                  <a:lnTo>
                    <a:pt x="1755648" y="1426464"/>
                  </a:lnTo>
                  <a:lnTo>
                    <a:pt x="0" y="1426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-22" r="0" b="-23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687068" y="-44631"/>
            <a:ext cx="13848544" cy="1167670"/>
            <a:chOff x="0" y="0"/>
            <a:chExt cx="18797593" cy="15849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8797592" cy="1584960"/>
            </a:xfrm>
            <a:custGeom>
              <a:avLst/>
              <a:gdLst/>
              <a:ahLst/>
              <a:cxnLst/>
              <a:rect r="r" b="b" t="t" l="l"/>
              <a:pathLst>
                <a:path h="1584960" w="18797592">
                  <a:moveTo>
                    <a:pt x="0" y="0"/>
                  </a:moveTo>
                  <a:lnTo>
                    <a:pt x="18797592" y="0"/>
                  </a:lnTo>
                  <a:lnTo>
                    <a:pt x="18797592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11">
                <a:alphaModFix amt="0"/>
              </a:blip>
              <a:stretch>
                <a:fillRect l="0" t="-162836" r="7899" b="-16283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18797593" cy="16040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b="1" sz="4199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Our Solution: Satellite Embedding-Based 3D Subsurface Temperature Reconstruction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5445421" y="-966"/>
            <a:ext cx="2820625" cy="1331845"/>
            <a:chOff x="0" y="0"/>
            <a:chExt cx="4499699" cy="212467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1"/>
              </a:stretch>
            </a:blipFill>
          </p:spPr>
        </p:sp>
      </p:grpSp>
      <p:sp>
        <p:nvSpPr>
          <p:cNvPr name="TextBox 58" id="58"/>
          <p:cNvSpPr txBox="true"/>
          <p:nvPr/>
        </p:nvSpPr>
        <p:spPr>
          <a:xfrm rot="0">
            <a:off x="14882762" y="7521014"/>
            <a:ext cx="3413096" cy="2868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2"/>
              </a:lnSpc>
            </a:pPr>
            <a:r>
              <a:t/>
            </a:r>
          </a:p>
          <a:p>
            <a:pPr algn="l" marL="359117" indent="-179559" lvl="1">
              <a:lnSpc>
                <a:spcPts val="2328"/>
              </a:lnSpc>
              <a:buFont typeface="Arial"/>
              <a:buChar char="•"/>
            </a:pPr>
            <a:r>
              <a:rPr lang="en-US" sz="1663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Multi-Satellite Fusion: Daily OSTIA SST, SMAP SSS, DUACS SLA, OSCAR &amp; CCMP</a:t>
            </a:r>
          </a:p>
          <a:p>
            <a:pPr algn="l" marL="359117" indent="-179559" lvl="1">
              <a:lnSpc>
                <a:spcPts val="2328"/>
              </a:lnSpc>
              <a:buFont typeface="Arial"/>
              <a:buChar char="•"/>
            </a:pPr>
            <a:r>
              <a:rPr lang="en-US" sz="1663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Embedding Engine: ConvNeXt-V2 (eddies) + Swin-Transformer (planetary waves)</a:t>
            </a:r>
          </a:p>
          <a:p>
            <a:pPr algn="l" marL="359117" indent="-179559" lvl="1">
              <a:lnSpc>
                <a:spcPts val="2328"/>
              </a:lnSpc>
              <a:buFont typeface="Arial"/>
              <a:buChar char="•"/>
            </a:pPr>
            <a:r>
              <a:rPr lang="en-US" sz="1663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Physics-Informed Regularization: Enforces TEOS-10 density &amp; static stability (N² ≥ 0)</a:t>
            </a:r>
          </a:p>
          <a:p>
            <a:pPr algn="l" marL="359117" indent="-179559" lvl="1">
              <a:lnSpc>
                <a:spcPts val="2328"/>
              </a:lnSpc>
              <a:buFont typeface="Arial"/>
              <a:buChar char="•"/>
            </a:pPr>
            <a:r>
              <a:rPr lang="en-US" sz="1663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 Standard Depths: Reconstructs 0 to 1000m at 0.25° grid across North Indian Ocean</a:t>
            </a:r>
          </a:p>
          <a:p>
            <a:pPr algn="l">
              <a:lnSpc>
                <a:spcPts val="1912"/>
              </a:lnSpc>
            </a:pPr>
            <a:r>
              <a:t/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5164729" y="7309057"/>
            <a:ext cx="2765181" cy="392932"/>
            <a:chOff x="0" y="0"/>
            <a:chExt cx="728278" cy="10348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28278" cy="103488"/>
            </a:xfrm>
            <a:custGeom>
              <a:avLst/>
              <a:gdLst/>
              <a:ahLst/>
              <a:cxnLst/>
              <a:rect r="r" b="b" t="t" l="l"/>
              <a:pathLst>
                <a:path h="103488" w="728278">
                  <a:moveTo>
                    <a:pt x="47596" y="0"/>
                  </a:moveTo>
                  <a:lnTo>
                    <a:pt x="680682" y="0"/>
                  </a:lnTo>
                  <a:cubicBezTo>
                    <a:pt x="706968" y="0"/>
                    <a:pt x="728278" y="21310"/>
                    <a:pt x="728278" y="47596"/>
                  </a:cubicBezTo>
                  <a:lnTo>
                    <a:pt x="728278" y="55892"/>
                  </a:lnTo>
                  <a:cubicBezTo>
                    <a:pt x="728278" y="82179"/>
                    <a:pt x="706968" y="103488"/>
                    <a:pt x="680682" y="103488"/>
                  </a:cubicBezTo>
                  <a:lnTo>
                    <a:pt x="47596" y="103488"/>
                  </a:lnTo>
                  <a:cubicBezTo>
                    <a:pt x="21310" y="103488"/>
                    <a:pt x="0" y="82179"/>
                    <a:pt x="0" y="55892"/>
                  </a:cubicBezTo>
                  <a:lnTo>
                    <a:pt x="0" y="47596"/>
                  </a:lnTo>
                  <a:cubicBezTo>
                    <a:pt x="0" y="21310"/>
                    <a:pt x="21310" y="0"/>
                    <a:pt x="47596" y="0"/>
                  </a:cubicBezTo>
                  <a:close/>
                </a:path>
              </a:pathLst>
            </a:custGeom>
            <a:solidFill>
              <a:srgbClr val="545454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19050"/>
              <a:ext cx="728278" cy="1225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37"/>
                </a:lnSpc>
              </a:pPr>
              <a:r>
                <a:rPr lang="en-US" b="true" sz="1614">
                  <a:solidFill>
                    <a:srgbClr val="F8FAF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diagram understanding</a:t>
              </a:r>
            </a:p>
          </p:txBody>
        </p:sp>
      </p:grpSp>
      <p:sp>
        <p:nvSpPr>
          <p:cNvPr name="AutoShape 62" id="62"/>
          <p:cNvSpPr/>
          <p:nvPr/>
        </p:nvSpPr>
        <p:spPr>
          <a:xfrm>
            <a:off x="7446555" y="1900644"/>
            <a:ext cx="0" cy="8111276"/>
          </a:xfrm>
          <a:prstGeom prst="line">
            <a:avLst/>
          </a:prstGeom>
          <a:ln cap="flat" w="38100">
            <a:solidFill>
              <a:srgbClr val="C1D8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 flipV="true">
            <a:off x="7465673" y="6598517"/>
            <a:ext cx="10695682" cy="38100"/>
          </a:xfrm>
          <a:prstGeom prst="line">
            <a:avLst/>
          </a:prstGeom>
          <a:ln cap="flat" w="38100">
            <a:solidFill>
              <a:srgbClr val="C1D8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4" id="64"/>
          <p:cNvSpPr/>
          <p:nvPr/>
        </p:nvSpPr>
        <p:spPr>
          <a:xfrm flipH="false" flipV="false" rot="0">
            <a:off x="7631502" y="7070932"/>
            <a:ext cx="6562224" cy="3052684"/>
          </a:xfrm>
          <a:custGeom>
            <a:avLst/>
            <a:gdLst/>
            <a:ahLst/>
            <a:cxnLst/>
            <a:rect r="r" b="b" t="t" l="l"/>
            <a:pathLst>
              <a:path h="3052684" w="6562224">
                <a:moveTo>
                  <a:pt x="0" y="0"/>
                </a:moveTo>
                <a:lnTo>
                  <a:pt x="6562224" y="0"/>
                </a:lnTo>
                <a:lnTo>
                  <a:pt x="6562224" y="3052684"/>
                </a:lnTo>
                <a:lnTo>
                  <a:pt x="0" y="3052684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862" t="-4703" r="0" b="0"/>
            </a:stretch>
          </a:blipFill>
        </p:spPr>
      </p:sp>
      <p:sp>
        <p:nvSpPr>
          <p:cNvPr name="TextBox 65" id="65"/>
          <p:cNvSpPr txBox="true"/>
          <p:nvPr/>
        </p:nvSpPr>
        <p:spPr>
          <a:xfrm rot="0">
            <a:off x="11286871" y="3703883"/>
            <a:ext cx="2795525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Target: CMEMS GLORYS12V1 (moi-00021)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675936" y="3283641"/>
            <a:ext cx="3131388" cy="40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sz="13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Reconstructs 0, 5, 10, 20, 30, 50, 75, 100, 125, 150, 200, 300, 500, 700, 1000m depth levels at 0.25° daily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1280435" y="3273483"/>
            <a:ext cx="3273880" cy="368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13"/>
              </a:lnSpc>
            </a:pPr>
            <a:r>
              <a:rPr lang="en-US" sz="12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Compact 512-D multi-scale representation learning combining ConvNeXt-V2 and Swin Transformer v2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7675936" y="3041278"/>
            <a:ext cx="173861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2"/>
              </a:lnSpc>
            </a:pPr>
            <a:r>
              <a:rPr lang="en-US" sz="1410" b="1">
                <a:solidFill>
                  <a:srgbClr val="0F172A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15 Standard Depth Profiling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675936" y="3751789"/>
            <a:ext cx="2778896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B365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Pipeline: Google Earth Engine &amp; PyTorch</a:t>
            </a:r>
            <a:r>
              <a:rPr lang="en-US" b="true" sz="1218">
                <a:solidFill>
                  <a:srgbClr val="1B365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1286871" y="2991093"/>
            <a:ext cx="221664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2"/>
              </a:lnSpc>
            </a:pPr>
            <a:r>
              <a:rPr lang="en-US" sz="1410" b="1">
                <a:solidFill>
                  <a:srgbClr val="0F172A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Dual-Branch Embedding Engine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4855376" y="5344501"/>
            <a:ext cx="1692001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3"/>
              </a:lnSpc>
            </a:pPr>
            <a:r>
              <a:rPr lang="en-US" sz="1411" b="1">
                <a:solidFill>
                  <a:srgbClr val="0F172A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Cyclone Heat Potential (TCHP)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4882810" y="5628748"/>
            <a:ext cx="3190086" cy="40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sz="13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D26 isotherm depth &amp; heat content mapping for 48h cyclone rapid intensification alerts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4882810" y="6188274"/>
            <a:ext cx="291247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Beneficiary: IMD &amp; NDMA Disaster Mgmt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7672340" y="5422028"/>
            <a:ext cx="261113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3"/>
              </a:lnSpc>
            </a:pPr>
            <a:r>
              <a:rPr lang="en-US" sz="1411" b="1">
                <a:solidFill>
                  <a:srgbClr val="1E40A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Baroclinic Altimetry Coupling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7672340" y="5684057"/>
            <a:ext cx="3340737" cy="368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13"/>
              </a:lnSpc>
            </a:pPr>
            <a:r>
              <a:rPr lang="en-US" sz="1218">
                <a:solidFill>
                  <a:srgbClr val="1565A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Exploits Sea Level Anomaly (SLA) &amp; Wind Stress Curl as dynamic baroclinic proxies for thermocline shifts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7672340" y="6188274"/>
            <a:ext cx="255689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Inputs: DUACS Altimetry &amp; CCMP Winds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1220186" y="5422028"/>
            <a:ext cx="2152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3"/>
              </a:lnSpc>
            </a:pPr>
            <a:r>
              <a:rPr lang="en-US" sz="1411" b="1">
                <a:solidFill>
                  <a:srgbClr val="16653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TEOS-10 Thermodynamic Guard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1248757" y="5701029"/>
            <a:ext cx="3337235" cy="40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sz="1318">
                <a:solidFill>
                  <a:srgbClr val="1580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Observation-Guided density loss eliminates unphysical vertical density inversions (N² ≥ 0)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1248757" y="6189103"/>
            <a:ext cx="283033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Physics: UNESCO TEOS-10 Equation of State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4795544" y="3273483"/>
            <a:ext cx="3140514" cy="40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sz="1318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&lt;45ms per basin tile on Vertex AI gRPC; full offline ONNX runtime cache on localhost for zero Wi-Fi risk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4748237" y="3027071"/>
            <a:ext cx="3203579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2"/>
              </a:lnSpc>
            </a:pPr>
            <a:r>
              <a:rPr lang="en-US" b="1" sz="1410">
                <a:solidFill>
                  <a:srgbClr val="0B3D5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Ultra-Fast Inference &amp; Offline Mode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4814583" y="3703883"/>
            <a:ext cx="313723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b="1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Serving: Google Cloud Run &amp; Local ONNX</a:t>
            </a:r>
            <a:r>
              <a:rPr lang="en-US" b="true" sz="12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589651" y="3274742"/>
            <a:ext cx="3746094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1565A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End-to-end deep learning framework converting 7 daily satellite surface channels into 3D vertical temperature fields (0–1000m) at 0.25° resolution across the North Indian Ocean.</a:t>
            </a:r>
            <a:r>
              <a:rPr lang="en-US" b="true" sz="2199">
                <a:solidFill>
                  <a:srgbClr val="1565A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  <a:r>
              <a:rPr lang="en-US" sz="2199">
                <a:solidFill>
                  <a:srgbClr val="1565A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397421" y="2770024"/>
            <a:ext cx="3362345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F8FAF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  <a:r>
              <a:rPr lang="en-US" b="true" sz="2399">
                <a:solidFill>
                  <a:srgbClr val="F8FAF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541684" y="5197345"/>
            <a:ext cx="39053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1565A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Overcomes seawater opacity to satellites; bridges sparse Argo float gaps with continuous daily grids; provides instant 3D fields without heavy numerical model delays.</a:t>
            </a:r>
            <a:r>
              <a:rPr lang="en-US" b="true" sz="2199">
                <a:solidFill>
                  <a:srgbClr val="1565A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  <a:r>
              <a:rPr lang="en-US" sz="2199">
                <a:solidFill>
                  <a:srgbClr val="1565A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45889" y="4583968"/>
            <a:ext cx="4189856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F8FAF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it solves the problem</a:t>
            </a:r>
            <a:r>
              <a:rPr lang="en-US" b="true" sz="2399">
                <a:solidFill>
                  <a:srgbClr val="F8FAF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354248" y="7228500"/>
            <a:ext cx="3737288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79" indent="-237490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16653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Dual ConvNeXt-Swin embedding engine</a:t>
            </a:r>
          </a:p>
          <a:p>
            <a:pPr algn="just" marL="474979" indent="-237490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16653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Observation-Guided TEOS-10 density loss</a:t>
            </a:r>
          </a:p>
          <a:p>
            <a:pPr algn="just" marL="474979" indent="-237490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16653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Climatological anomaly residual learning</a:t>
            </a:r>
          </a:p>
          <a:p>
            <a:pPr algn="just">
              <a:lnSpc>
                <a:spcPts val="2639"/>
              </a:lnSpc>
              <a:spcBef>
                <a:spcPct val="0"/>
              </a:spcBef>
            </a:pPr>
          </a:p>
        </p:txBody>
      </p:sp>
      <p:sp>
        <p:nvSpPr>
          <p:cNvPr name="TextBox 88" id="88"/>
          <p:cNvSpPr txBox="true"/>
          <p:nvPr/>
        </p:nvSpPr>
        <p:spPr>
          <a:xfrm rot="0">
            <a:off x="561076" y="6608042"/>
            <a:ext cx="510963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1">
                <a:solidFill>
                  <a:srgbClr val="F8FAF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Innovation and uniqueness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293875" y="9577901"/>
            <a:ext cx="1632616" cy="248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3"/>
              </a:lnSpc>
            </a:pPr>
            <a:r>
              <a:rPr lang="en-US" sz="1552" u="sng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23" tooltip="https://orca-frontend-dtwk.onrender.com/"/>
              </a:rPr>
              <a:t>Live demo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770620" y="9580213"/>
            <a:ext cx="1632616" cy="248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3"/>
              </a:lnSpc>
            </a:pPr>
            <a:r>
              <a:rPr lang="en-US" sz="1552" u="sng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24" tooltip="https://www.youtube.com/watch?v=VC_6R255cZ8"/>
              </a:rPr>
              <a:t>Demo video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3334690" y="9577901"/>
            <a:ext cx="1597125" cy="248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3"/>
              </a:lnSpc>
            </a:pPr>
            <a:r>
              <a:rPr lang="en-US" sz="1552" u="sng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25" tooltip="https://github.com/ranjith-saravanan/sih26176-research-docs"/>
              </a:rPr>
              <a:t>GitHub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4776901" y="9628199"/>
            <a:ext cx="1632616" cy="248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3"/>
              </a:lnSpc>
            </a:pPr>
            <a:r>
              <a:rPr lang="en-US" sz="1552" u="sng">
                <a:solidFill>
                  <a:srgbClr val="0B3D5C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26" tooltip="https://drive.google.com/drive/folders/1F29nV_9NKjvjrsBUHfZItZSnirj6Jejq"/>
              </a:rPr>
              <a:t>Research docs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7720468" y="6708982"/>
            <a:ext cx="7815143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7"/>
              </a:lnSpc>
              <a:spcBef>
                <a:spcPct val="0"/>
              </a:spcBef>
            </a:pPr>
            <a:r>
              <a:rPr lang="en-US" b="1" sz="2214">
                <a:solidFill>
                  <a:srgbClr val="1C2E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Innovation: Satellite Embedding &amp; Physics-Guided Neural Architecture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070467" y="7780950"/>
            <a:ext cx="15821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North Indian Ocean 3D Prototype Model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8640" y="219456"/>
            <a:ext cx="1316736" cy="1069848"/>
            <a:chOff x="0" y="0"/>
            <a:chExt cx="1755648" cy="1426464"/>
          </a:xfrm>
        </p:grpSpPr>
        <p:sp>
          <p:nvSpPr>
            <p:cNvPr name="Freeform 3" id="3" descr="orca.png"/>
            <p:cNvSpPr/>
            <p:nvPr/>
          </p:nvSpPr>
          <p:spPr>
            <a:xfrm flipH="false" flipV="false" rot="0">
              <a:off x="0" y="0"/>
              <a:ext cx="1755648" cy="1426464"/>
            </a:xfrm>
            <a:custGeom>
              <a:avLst/>
              <a:gdLst/>
              <a:ahLst/>
              <a:cxnLst/>
              <a:rect r="r" b="b" t="t" l="l"/>
              <a:pathLst>
                <a:path h="1426464" w="1755648">
                  <a:moveTo>
                    <a:pt x="0" y="0"/>
                  </a:moveTo>
                  <a:lnTo>
                    <a:pt x="1755648" y="0"/>
                  </a:lnTo>
                  <a:lnTo>
                    <a:pt x="1755648" y="1426464"/>
                  </a:lnTo>
                  <a:lnTo>
                    <a:pt x="0" y="1426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2" r="0" b="-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03120" y="219456"/>
            <a:ext cx="12984480" cy="1188720"/>
            <a:chOff x="0" y="0"/>
            <a:chExt cx="17312640" cy="15849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312639" cy="1584960"/>
            </a:xfrm>
            <a:custGeom>
              <a:avLst/>
              <a:gdLst/>
              <a:ahLst/>
              <a:cxnLst/>
              <a:rect r="r" b="b" t="t" l="l"/>
              <a:pathLst>
                <a:path h="158496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2836" r="0" b="-16283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7312640" cy="16135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65760" y="1462786"/>
            <a:ext cx="3093380" cy="555402"/>
            <a:chOff x="0" y="0"/>
            <a:chExt cx="4124506" cy="7405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124506" cy="740536"/>
            </a:xfrm>
            <a:custGeom>
              <a:avLst/>
              <a:gdLst/>
              <a:ahLst/>
              <a:cxnLst/>
              <a:rect r="r" b="b" t="t" l="l"/>
              <a:pathLst>
                <a:path h="740536" w="4124506">
                  <a:moveTo>
                    <a:pt x="0" y="0"/>
                  </a:moveTo>
                  <a:lnTo>
                    <a:pt x="4124506" y="0"/>
                  </a:lnTo>
                  <a:lnTo>
                    <a:pt x="4124506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9901" r="-231070" b="-3086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4124506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1" sz="2799">
                  <a:solidFill>
                    <a:srgbClr val="2E2C2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Embedding &amp; Physics Architecture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779765" y="8456962"/>
            <a:ext cx="6836994" cy="1601639"/>
            <a:chOff x="0" y="0"/>
            <a:chExt cx="11699626" cy="2740762"/>
          </a:xfrm>
        </p:grpSpPr>
        <p:sp>
          <p:nvSpPr>
            <p:cNvPr name="Freeform 13" id="13" descr="sources.png"/>
            <p:cNvSpPr/>
            <p:nvPr/>
          </p:nvSpPr>
          <p:spPr>
            <a:xfrm flipH="false" flipV="false" rot="0">
              <a:off x="0" y="0"/>
              <a:ext cx="11699625" cy="2740787"/>
            </a:xfrm>
            <a:custGeom>
              <a:avLst/>
              <a:gdLst/>
              <a:ahLst/>
              <a:cxnLst/>
              <a:rect r="r" b="b" t="t" l="l"/>
              <a:pathLst>
                <a:path h="2740787" w="11699625">
                  <a:moveTo>
                    <a:pt x="0" y="0"/>
                  </a:moveTo>
                  <a:lnTo>
                    <a:pt x="11699625" y="0"/>
                  </a:lnTo>
                  <a:lnTo>
                    <a:pt x="11699625" y="2740787"/>
                  </a:lnTo>
                  <a:lnTo>
                    <a:pt x="0" y="2740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246" r="0" b="-324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949906" y="8456962"/>
            <a:ext cx="4167671" cy="555402"/>
            <a:chOff x="0" y="0"/>
            <a:chExt cx="5556895" cy="7405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556895" cy="740536"/>
            </a:xfrm>
            <a:custGeom>
              <a:avLst/>
              <a:gdLst/>
              <a:ahLst/>
              <a:cxnLst/>
              <a:rect r="r" b="b" t="t" l="l"/>
              <a:pathLst>
                <a:path h="740536" w="5556895">
                  <a:moveTo>
                    <a:pt x="0" y="0"/>
                  </a:moveTo>
                  <a:lnTo>
                    <a:pt x="5556895" y="0"/>
                  </a:lnTo>
                  <a:lnTo>
                    <a:pt x="5556895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9901" r="-145731" b="-308683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5556895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b="1" sz="2600">
                  <a:solidFill>
                    <a:srgbClr val="2E2C2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Data We Use (Official MoES/INCOIS Suite)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365760" y="1437128"/>
            <a:ext cx="7979241" cy="7412744"/>
          </a:xfrm>
          <a:custGeom>
            <a:avLst/>
            <a:gdLst/>
            <a:ahLst/>
            <a:cxnLst/>
            <a:rect r="r" b="b" t="t" l="l"/>
            <a:pathLst>
              <a:path h="7412744" w="7979241">
                <a:moveTo>
                  <a:pt x="0" y="0"/>
                </a:moveTo>
                <a:lnTo>
                  <a:pt x="7979241" y="0"/>
                </a:lnTo>
                <a:lnTo>
                  <a:pt x="7979241" y="7412744"/>
                </a:lnTo>
                <a:lnTo>
                  <a:pt x="0" y="74127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77" r="-516" b="-177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997032" y="2146118"/>
            <a:ext cx="8921651" cy="2231220"/>
          </a:xfrm>
          <a:custGeom>
            <a:avLst/>
            <a:gdLst/>
            <a:ahLst/>
            <a:cxnLst/>
            <a:rect r="r" b="b" t="t" l="l"/>
            <a:pathLst>
              <a:path h="2231220" w="8921651">
                <a:moveTo>
                  <a:pt x="0" y="0"/>
                </a:moveTo>
                <a:lnTo>
                  <a:pt x="8921652" y="0"/>
                </a:lnTo>
                <a:lnTo>
                  <a:pt x="8921652" y="2231220"/>
                </a:lnTo>
                <a:lnTo>
                  <a:pt x="0" y="22312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4285" r="0" b="-29416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8911379" y="4386863"/>
            <a:ext cx="3199594" cy="567478"/>
            <a:chOff x="0" y="0"/>
            <a:chExt cx="4124506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124506" cy="731520"/>
            </a:xfrm>
            <a:custGeom>
              <a:avLst/>
              <a:gdLst/>
              <a:ahLst/>
              <a:cxnLst/>
              <a:rect r="r" b="b" t="t" l="l"/>
              <a:pathLst>
                <a:path h="731520" w="4124506">
                  <a:moveTo>
                    <a:pt x="0" y="0"/>
                  </a:moveTo>
                  <a:lnTo>
                    <a:pt x="4124506" y="0"/>
                  </a:lnTo>
                  <a:lnTo>
                    <a:pt x="412450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-231070" b="-31372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4124506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b="1" sz="2600">
                  <a:solidFill>
                    <a:srgbClr val="2E2C2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Innovations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949906" y="1597214"/>
            <a:ext cx="4507952" cy="558429"/>
            <a:chOff x="0" y="0"/>
            <a:chExt cx="5905244" cy="7315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905243" cy="731520"/>
            </a:xfrm>
            <a:custGeom>
              <a:avLst/>
              <a:gdLst/>
              <a:ahLst/>
              <a:cxnLst/>
              <a:rect r="r" b="b" t="t" l="l"/>
              <a:pathLst>
                <a:path h="731520" w="5905243">
                  <a:moveTo>
                    <a:pt x="0" y="0"/>
                  </a:moveTo>
                  <a:lnTo>
                    <a:pt x="5905243" y="0"/>
                  </a:lnTo>
                  <a:lnTo>
                    <a:pt x="5905243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-131235" b="-31372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5905244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b="1" sz="2600">
                  <a:solidFill>
                    <a:srgbClr val="2E2C2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Technology Stack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>
            <a:off x="8744500" y="1702425"/>
            <a:ext cx="0" cy="8111276"/>
          </a:xfrm>
          <a:prstGeom prst="line">
            <a:avLst/>
          </a:prstGeom>
          <a:ln cap="flat" w="38100">
            <a:solidFill>
              <a:srgbClr val="C1D8F5"/>
            </a:solidFill>
            <a:prstDash val="solid"/>
            <a:headEnd type="none" len="sm" w="sm"/>
            <a:tailEnd type="none" len="sm" w="sm"/>
          </a:ln>
        </p:spPr>
      </p:sp>
      <p:graphicFrame>
        <p:nvGraphicFramePr>
          <p:cNvPr name="Table 26" id="26"/>
          <p:cNvGraphicFramePr>
            <a:graphicFrameLocks noGrp="true"/>
          </p:cNvGraphicFramePr>
          <p:nvPr/>
        </p:nvGraphicFramePr>
        <p:xfrm>
          <a:off x="8911379" y="4948838"/>
          <a:ext cx="9133524" cy="3260408"/>
        </p:xfrm>
        <a:graphic>
          <a:graphicData uri="http://schemas.openxmlformats.org/drawingml/2006/table">
            <a:tbl>
              <a:tblPr/>
              <a:tblGrid>
                <a:gridCol w="2746035"/>
                <a:gridCol w="3012715"/>
                <a:gridCol w="3374774"/>
              </a:tblGrid>
              <a:tr h="584955">
                <a:tc>
                  <a:txBody>
                    <a:bodyPr anchor="t" rtlCol="false"/>
                    <a:lstStyle/>
                    <a:p>
                      <a:r>
                        <a:t>Technical Innovation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Oceanographic Challenge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Our AI &amp; Physics Solution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</a:tr>
              <a:tr h="891817">
                <a:tc>
                  <a:txBody>
                    <a:bodyPr anchor="t" rtlCol="false"/>
                    <a:lstStyle/>
                    <a:p>
                      <a:r>
                        <a:t>Observation-Guided PINN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Standard PINNs suffer gradient conflict &amp; spurious convergence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Anchors physical loss to observed density &amp; TEOS-10, guaranteeing monotonic stratification (N² ≥ 0)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1817">
                <a:tc>
                  <a:txBody>
                    <a:bodyPr anchor="t" rtlCol="false"/>
                    <a:lstStyle/>
                    <a:p>
                      <a:r>
                        <a:t>Dual-Branch Embedding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Spatial scale mismatch: mesoscale eddies vs planetary waves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ConvNeXt-V2 (7x7 local eddies) + Swin-Transformer (basin-wide planetary Rossby &amp; Kelvin waves)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1817">
                <a:tc>
                  <a:txBody>
                    <a:bodyPr anchor="t" rtlCol="false"/>
                    <a:lstStyle/>
                    <a:p>
                      <a:r>
                        <a:t>Baroclinic Altimetry Proxy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Subsurface thermocline displacement invisible to surface sensors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Couples Sea Level Anomaly (SLA) &amp; Wind Stress Curl (Ekman pumping w_E) to vertical isotherm shift</a:t>
                      </a:r>
                    </a:p>
                  </a:txBody>
                  <a:tcPr marL="91440" marR="91440" marT="91440" marB="9144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27" id="27"/>
          <p:cNvSpPr/>
          <p:nvPr/>
        </p:nvSpPr>
        <p:spPr>
          <a:xfrm>
            <a:off x="9032513" y="4972050"/>
            <a:ext cx="8891346" cy="38166"/>
          </a:xfrm>
          <a:prstGeom prst="line">
            <a:avLst/>
          </a:prstGeom>
          <a:ln cap="rnd" w="19050">
            <a:solidFill>
              <a:srgbClr val="0F8B8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9032468" y="8218770"/>
            <a:ext cx="8891346" cy="38166"/>
          </a:xfrm>
          <a:prstGeom prst="line">
            <a:avLst/>
          </a:prstGeom>
          <a:ln cap="rnd" w="19050">
            <a:solidFill>
              <a:srgbClr val="0F8B8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9" id="29"/>
          <p:cNvSpPr/>
          <p:nvPr/>
        </p:nvSpPr>
        <p:spPr>
          <a:xfrm flipH="false" flipV="false" rot="0">
            <a:off x="272957" y="9021322"/>
            <a:ext cx="8164846" cy="830183"/>
          </a:xfrm>
          <a:custGeom>
            <a:avLst/>
            <a:gdLst/>
            <a:ahLst/>
            <a:cxnLst/>
            <a:rect r="r" b="b" t="t" l="l"/>
            <a:pathLst>
              <a:path h="830183" w="8164846">
                <a:moveTo>
                  <a:pt x="0" y="0"/>
                </a:moveTo>
                <a:lnTo>
                  <a:pt x="8164846" y="0"/>
                </a:lnTo>
                <a:lnTo>
                  <a:pt x="8164846" y="830183"/>
                </a:lnTo>
                <a:lnTo>
                  <a:pt x="0" y="8301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8640" y="219456"/>
            <a:ext cx="1316736" cy="1069848"/>
            <a:chOff x="0" y="0"/>
            <a:chExt cx="1755648" cy="1426464"/>
          </a:xfrm>
        </p:grpSpPr>
        <p:sp>
          <p:nvSpPr>
            <p:cNvPr name="Freeform 3" id="3" descr="orca.png"/>
            <p:cNvSpPr/>
            <p:nvPr/>
          </p:nvSpPr>
          <p:spPr>
            <a:xfrm flipH="false" flipV="false" rot="0">
              <a:off x="0" y="0"/>
              <a:ext cx="1755648" cy="1426464"/>
            </a:xfrm>
            <a:custGeom>
              <a:avLst/>
              <a:gdLst/>
              <a:ahLst/>
              <a:cxnLst/>
              <a:rect r="r" b="b" t="t" l="l"/>
              <a:pathLst>
                <a:path h="1426464" w="1755648">
                  <a:moveTo>
                    <a:pt x="0" y="0"/>
                  </a:moveTo>
                  <a:lnTo>
                    <a:pt x="1755648" y="0"/>
                  </a:lnTo>
                  <a:lnTo>
                    <a:pt x="1755648" y="1426464"/>
                  </a:lnTo>
                  <a:lnTo>
                    <a:pt x="0" y="1426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2" r="0" b="-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03120" y="219456"/>
            <a:ext cx="12984480" cy="1188720"/>
            <a:chOff x="0" y="0"/>
            <a:chExt cx="17312640" cy="15849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312639" cy="1584960"/>
            </a:xfrm>
            <a:custGeom>
              <a:avLst/>
              <a:gdLst/>
              <a:ahLst/>
              <a:cxnLst/>
              <a:rect r="r" b="b" t="t" l="l"/>
              <a:pathLst>
                <a:path h="158496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2836" r="0" b="-16283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7312640" cy="16135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007840" y="9838944"/>
            <a:ext cx="731520" cy="448056"/>
            <a:chOff x="0" y="0"/>
            <a:chExt cx="975360" cy="59740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75360" cy="597408"/>
            </a:xfrm>
            <a:custGeom>
              <a:avLst/>
              <a:gdLst/>
              <a:ahLst/>
              <a:cxnLst/>
              <a:rect r="r" b="b" t="t" l="l"/>
              <a:pathLst>
                <a:path h="597408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597408"/>
                  </a:lnTo>
                  <a:lnTo>
                    <a:pt x="0" y="5974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8585" t="0" r="-28585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975360" cy="6164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98679" y="4544555"/>
            <a:ext cx="5902921" cy="618115"/>
            <a:chOff x="0" y="0"/>
            <a:chExt cx="1554679" cy="1627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54679" cy="162796"/>
            </a:xfrm>
            <a:custGeom>
              <a:avLst/>
              <a:gdLst/>
              <a:ahLst/>
              <a:cxnLst/>
              <a:rect r="r" b="b" t="t" l="l"/>
              <a:pathLst>
                <a:path h="162796" w="1554679">
                  <a:moveTo>
                    <a:pt x="22296" y="0"/>
                  </a:moveTo>
                  <a:lnTo>
                    <a:pt x="1532383" y="0"/>
                  </a:lnTo>
                  <a:cubicBezTo>
                    <a:pt x="1544696" y="0"/>
                    <a:pt x="1554679" y="9982"/>
                    <a:pt x="1554679" y="22296"/>
                  </a:cubicBezTo>
                  <a:lnTo>
                    <a:pt x="1554679" y="140500"/>
                  </a:lnTo>
                  <a:cubicBezTo>
                    <a:pt x="1554679" y="152813"/>
                    <a:pt x="1544696" y="162796"/>
                    <a:pt x="1532383" y="162796"/>
                  </a:cubicBezTo>
                  <a:lnTo>
                    <a:pt x="22296" y="162796"/>
                  </a:lnTo>
                  <a:cubicBezTo>
                    <a:pt x="9982" y="162796"/>
                    <a:pt x="0" y="152813"/>
                    <a:pt x="0" y="140500"/>
                  </a:cubicBezTo>
                  <a:lnTo>
                    <a:pt x="0" y="22296"/>
                  </a:lnTo>
                  <a:cubicBezTo>
                    <a:pt x="0" y="9982"/>
                    <a:pt x="9982" y="0"/>
                    <a:pt x="22296" y="0"/>
                  </a:cubicBezTo>
                  <a:close/>
                </a:path>
              </a:pathLst>
            </a:custGeom>
            <a:solidFill>
              <a:srgbClr val="9DC3E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1554679" cy="1818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249294" y="4600518"/>
            <a:ext cx="5412804" cy="506189"/>
            <a:chOff x="0" y="0"/>
            <a:chExt cx="7300832" cy="68275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300832" cy="682752"/>
            </a:xfrm>
            <a:custGeom>
              <a:avLst/>
              <a:gdLst/>
              <a:ahLst/>
              <a:cxnLst/>
              <a:rect r="r" b="b" t="t" l="l"/>
              <a:pathLst>
                <a:path h="682752" w="7300832">
                  <a:moveTo>
                    <a:pt x="0" y="0"/>
                  </a:moveTo>
                  <a:lnTo>
                    <a:pt x="7300832" y="0"/>
                  </a:lnTo>
                  <a:lnTo>
                    <a:pt x="7300832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39" r="-26915" b="-21443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300832" cy="6922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Proof: Working Prototype &amp; 3D Temperature Slicing Engine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759177" y="5340251"/>
            <a:ext cx="6308935" cy="3127253"/>
            <a:chOff x="0" y="0"/>
            <a:chExt cx="6217920" cy="3082138"/>
          </a:xfrm>
        </p:grpSpPr>
        <p:sp>
          <p:nvSpPr>
            <p:cNvPr name="Freeform 19" id="19" descr="product.png"/>
            <p:cNvSpPr/>
            <p:nvPr/>
          </p:nvSpPr>
          <p:spPr>
            <a:xfrm flipH="false" flipV="false" rot="0">
              <a:off x="0" y="0"/>
              <a:ext cx="6217920" cy="3082163"/>
            </a:xfrm>
            <a:custGeom>
              <a:avLst/>
              <a:gdLst/>
              <a:ahLst/>
              <a:cxnLst/>
              <a:rect r="r" b="b" t="t" l="l"/>
              <a:pathLst>
                <a:path h="3082163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3082163"/>
                  </a:lnTo>
                  <a:lnTo>
                    <a:pt x="0" y="3082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4" r="0" b="-14"/>
              </a:stretch>
            </a:blipFill>
            <a:ln w="38100" cap="sq">
              <a:solidFill>
                <a:srgbClr val="1800AD"/>
              </a:solidFill>
              <a:prstDash val="solid"/>
              <a:miter/>
            </a:ln>
          </p:spPr>
        </p:sp>
      </p:grpSp>
      <p:graphicFrame>
        <p:nvGraphicFramePr>
          <p:cNvPr name="Object 20" id="20"/>
          <p:cNvGraphicFramePr/>
          <p:nvPr/>
        </p:nvGraphicFramePr>
        <p:xfrm>
          <a:off x="259522" y="5143500"/>
          <a:ext cx="10044112" cy="4002786"/>
        </p:xfrm>
        <a:graphic>
          <a:graphicData uri="http://schemas.openxmlformats.org/presentationml/2006/ole">
            <p:oleObj imgW="12039600" imgH="6007100" r:id="rId8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grpSp>
        <p:nvGrpSpPr>
          <p:cNvPr name="Group 21" id="21"/>
          <p:cNvGrpSpPr/>
          <p:nvPr/>
        </p:nvGrpSpPr>
        <p:grpSpPr>
          <a:xfrm rot="0">
            <a:off x="13335685" y="4525385"/>
            <a:ext cx="4403675" cy="1452808"/>
            <a:chOff x="0" y="0"/>
            <a:chExt cx="5871566" cy="193707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871566" cy="1937077"/>
            </a:xfrm>
            <a:custGeom>
              <a:avLst/>
              <a:gdLst/>
              <a:ahLst/>
              <a:cxnLst/>
              <a:rect r="r" b="b" t="t" l="l"/>
              <a:pathLst>
                <a:path h="1937077" w="5871566">
                  <a:moveTo>
                    <a:pt x="0" y="0"/>
                  </a:moveTo>
                  <a:lnTo>
                    <a:pt x="5871566" y="0"/>
                  </a:lnTo>
                  <a:lnTo>
                    <a:pt x="5871566" y="1937077"/>
                  </a:lnTo>
                  <a:lnTo>
                    <a:pt x="0" y="1937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68695" t="0" r="-68695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258078" y="935854"/>
              <a:ext cx="5355409" cy="730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2157"/>
                </a:lnSpc>
                <a:spcBef>
                  <a:spcPct val="0"/>
                </a:spcBef>
              </a:pPr>
              <a:r>
                <a:rPr lang="en-US" sz="1798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Validated on CMEMS GLORYS12V1 &amp; INCOIS LAS ARGO Profilers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16475" y="280217"/>
              <a:ext cx="1812445" cy="615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571"/>
                </a:lnSpc>
                <a:spcBef>
                  <a:spcPct val="0"/>
                </a:spcBef>
              </a:pPr>
              <a:r>
                <a:rPr lang="en-US" b="1" sz="2976">
                  <a:solidFill>
                    <a:srgbClr val="2E75B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TRL 4</a:t>
              </a:r>
              <a:r>
                <a:rPr lang="en-US" b="true" sz="2976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406803" y="2301705"/>
            <a:ext cx="17474394" cy="1869182"/>
          </a:xfrm>
          <a:custGeom>
            <a:avLst/>
            <a:gdLst/>
            <a:ahLst/>
            <a:cxnLst/>
            <a:rect r="r" b="b" t="t" l="l"/>
            <a:pathLst>
              <a:path h="1869182" w="17474394">
                <a:moveTo>
                  <a:pt x="0" y="0"/>
                </a:moveTo>
                <a:lnTo>
                  <a:pt x="17474394" y="0"/>
                </a:lnTo>
                <a:lnTo>
                  <a:pt x="17474394" y="1869182"/>
                </a:lnTo>
                <a:lnTo>
                  <a:pt x="0" y="18691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068112" y="6093335"/>
            <a:ext cx="4992822" cy="3503734"/>
          </a:xfrm>
          <a:custGeom>
            <a:avLst/>
            <a:gdLst/>
            <a:ahLst/>
            <a:cxnLst/>
            <a:rect r="r" b="b" t="t" l="l"/>
            <a:pathLst>
              <a:path h="3503734" w="4992822">
                <a:moveTo>
                  <a:pt x="0" y="0"/>
                </a:moveTo>
                <a:lnTo>
                  <a:pt x="4992822" y="0"/>
                </a:lnTo>
                <a:lnTo>
                  <a:pt x="4992822" y="3503734"/>
                </a:lnTo>
                <a:lnTo>
                  <a:pt x="0" y="35037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7207243" y="8686579"/>
            <a:ext cx="5412804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sz="1800" u="sng">
                <a:solidFill>
                  <a:srgbClr val="FF313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12" tooltip="https://orca-frontend-dtwk.onrender.com"/>
              </a:rPr>
              <a:t>Live Demo: End-to-end inference in &lt;45ms generating 15 depth slices with interactive 3D transects on MapLibre.</a:t>
            </a:r>
            <a:r>
              <a:rPr lang="en-US" sz="1800" u="sng">
                <a:solidFill>
                  <a:srgbClr val="1D2A33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13" tooltip="https://www.canva.com/design/DAHWbpN2Y74/QIrGCzGes0zTofDJaZDMOA/edit"/>
              </a:rPr>
              <a:t/>
            </a:r>
            <a:r>
              <a:rPr lang="en-US" sz="1800">
                <a:solidFill>
                  <a:srgbClr val="1D2A3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9522" y="4581468"/>
            <a:ext cx="4800243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Challenges, Risks and Mitigation Strategies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69056" y="1644480"/>
            <a:ext cx="2566511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Analysis &amp; Data Integrity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13550" y="257991"/>
            <a:ext cx="8460900" cy="1082018"/>
            <a:chOff x="0" y="0"/>
            <a:chExt cx="11281200" cy="1442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81201" cy="1442690"/>
            </a:xfrm>
            <a:custGeom>
              <a:avLst/>
              <a:gdLst/>
              <a:ahLst/>
              <a:cxnLst/>
              <a:rect r="r" b="b" t="t" l="l"/>
              <a:pathLst>
                <a:path h="1442690" w="11281201">
                  <a:moveTo>
                    <a:pt x="0" y="0"/>
                  </a:moveTo>
                  <a:lnTo>
                    <a:pt x="11281201" y="0"/>
                  </a:lnTo>
                  <a:lnTo>
                    <a:pt x="11281201" y="1442690"/>
                  </a:lnTo>
                  <a:lnTo>
                    <a:pt x="0" y="144269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7171" r="-94532" b="-27562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1281200" cy="1471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640"/>
                </a:lnSpc>
              </a:pPr>
              <a:r>
                <a:rPr lang="en-US" sz="4700" b="1">
                  <a:solidFill>
                    <a:srgbClr val="1F49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73949" y="9808369"/>
            <a:ext cx="370702" cy="547688"/>
            <a:chOff x="0" y="0"/>
            <a:chExt cx="494269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94269" cy="730250"/>
            </a:xfrm>
            <a:custGeom>
              <a:avLst/>
              <a:gdLst/>
              <a:ahLst/>
              <a:cxnLst/>
              <a:rect r="r" b="b" t="t" l="l"/>
              <a:pathLst>
                <a:path h="730250" w="494269">
                  <a:moveTo>
                    <a:pt x="0" y="0"/>
                  </a:moveTo>
                  <a:lnTo>
                    <a:pt x="494269" y="0"/>
                  </a:lnTo>
                  <a:lnTo>
                    <a:pt x="494269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-1051113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494269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5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320254" y="204350"/>
            <a:ext cx="1140236" cy="923525"/>
          </a:xfrm>
          <a:custGeom>
            <a:avLst/>
            <a:gdLst/>
            <a:ahLst/>
            <a:cxnLst/>
            <a:rect r="r" b="b" t="t" l="l"/>
            <a:pathLst>
              <a:path h="923525" w="1140236">
                <a:moveTo>
                  <a:pt x="0" y="0"/>
                </a:moveTo>
                <a:lnTo>
                  <a:pt x="1140237" y="0"/>
                </a:lnTo>
                <a:lnTo>
                  <a:pt x="1140237" y="923524"/>
                </a:lnTo>
                <a:lnTo>
                  <a:pt x="0" y="9235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158253" y="4654813"/>
            <a:ext cx="3915696" cy="2385801"/>
          </a:xfrm>
          <a:custGeom>
            <a:avLst/>
            <a:gdLst/>
            <a:ahLst/>
            <a:cxnLst/>
            <a:rect r="r" b="b" t="t" l="l"/>
            <a:pathLst>
              <a:path h="2385801" w="3915696">
                <a:moveTo>
                  <a:pt x="0" y="0"/>
                </a:moveTo>
                <a:lnTo>
                  <a:pt x="3915696" y="0"/>
                </a:lnTo>
                <a:lnTo>
                  <a:pt x="3915696" y="2385801"/>
                </a:lnTo>
                <a:lnTo>
                  <a:pt x="0" y="23858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248989" y="1470511"/>
            <a:ext cx="16824960" cy="555402"/>
            <a:chOff x="0" y="0"/>
            <a:chExt cx="22433280" cy="7405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433280" cy="740536"/>
            </a:xfrm>
            <a:custGeom>
              <a:avLst/>
              <a:gdLst/>
              <a:ahLst/>
              <a:cxnLst/>
              <a:rect r="r" b="b" t="t" l="l"/>
              <a:pathLst>
                <a:path h="740536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40875" r="0" b="-53965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22433280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Target Beneficiaries &amp; Maritime Stakeholders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52202" y="2111638"/>
            <a:ext cx="17646984" cy="1390650"/>
            <a:chOff x="0" y="0"/>
            <a:chExt cx="23529313" cy="1854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3529313" cy="1854200"/>
            </a:xfrm>
            <a:custGeom>
              <a:avLst/>
              <a:gdLst/>
              <a:ahLst/>
              <a:cxnLst/>
              <a:rect r="r" b="b" t="t" l="l"/>
              <a:pathLst>
                <a:path h="1854200" w="23529313">
                  <a:moveTo>
                    <a:pt x="0" y="0"/>
                  </a:moveTo>
                  <a:lnTo>
                    <a:pt x="23529313" y="0"/>
                  </a:lnTo>
                  <a:lnTo>
                    <a:pt x="23529313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2E75B6"/>
            </a:solidFill>
            <a:ln w="9525" cap="sq">
              <a:solidFill>
                <a:srgbClr val="EAF2FA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36075" y="1797177"/>
            <a:ext cx="3145536" cy="1895611"/>
            <a:chOff x="0" y="0"/>
            <a:chExt cx="4194048" cy="252748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194048" cy="2527481"/>
            </a:xfrm>
            <a:custGeom>
              <a:avLst/>
              <a:gdLst/>
              <a:ahLst/>
              <a:cxnLst/>
              <a:rect r="r" b="b" t="t" l="l"/>
              <a:pathLst>
                <a:path h="2527481" w="4194048">
                  <a:moveTo>
                    <a:pt x="0" y="0"/>
                  </a:moveTo>
                  <a:lnTo>
                    <a:pt x="4194048" y="0"/>
                  </a:lnTo>
                  <a:lnTo>
                    <a:pt x="4194048" y="2527481"/>
                  </a:lnTo>
                  <a:lnTo>
                    <a:pt x="0" y="252748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946" t="0" r="-5946" b="2764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4194048" cy="2556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1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48 Hours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Earlier Cyclone Alert (TCHP)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3338772" y="2264833"/>
            <a:ext cx="19055" cy="951738"/>
          </a:xfrm>
          <a:prstGeom prst="line">
            <a:avLst/>
          </a:prstGeom>
          <a:ln cap="rnd" w="9525">
            <a:solidFill>
              <a:srgbClr val="C9D6E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3514989" y="2009298"/>
            <a:ext cx="3078861" cy="1371600"/>
            <a:chOff x="0" y="0"/>
            <a:chExt cx="4105148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105148" cy="1828800"/>
            </a:xfrm>
            <a:custGeom>
              <a:avLst/>
              <a:gdLst/>
              <a:ahLst/>
              <a:cxnLst/>
              <a:rect r="r" b="b" t="t" l="l"/>
              <a:pathLst>
                <a:path h="1828800" w="4105148">
                  <a:moveTo>
                    <a:pt x="0" y="0"/>
                  </a:moveTo>
                  <a:lnTo>
                    <a:pt x="4105148" y="0"/>
                  </a:lnTo>
                  <a:lnTo>
                    <a:pt x="410514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075" t="0" r="-824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4105148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1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30% Saved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Diesel Fuel for Fishermen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6770062" y="2379005"/>
            <a:ext cx="19055" cy="951738"/>
          </a:xfrm>
          <a:prstGeom prst="line">
            <a:avLst/>
          </a:prstGeom>
          <a:ln cap="rnd" w="9525">
            <a:solidFill>
              <a:srgbClr val="C9D6E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6770062" y="2025913"/>
            <a:ext cx="3264980" cy="1371600"/>
            <a:chOff x="0" y="0"/>
            <a:chExt cx="4353307" cy="1828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353307" cy="1828800"/>
            </a:xfrm>
            <a:custGeom>
              <a:avLst/>
              <a:gdLst/>
              <a:ahLst/>
              <a:cxnLst/>
              <a:rect r="r" b="b" t="t" l="l"/>
              <a:pathLst>
                <a:path h="1828800" w="4353307">
                  <a:moveTo>
                    <a:pt x="0" y="0"/>
                  </a:moveTo>
                  <a:lnTo>
                    <a:pt x="4353307" y="0"/>
                  </a:lnTo>
                  <a:lnTo>
                    <a:pt x="4353307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728" t="0" r="-207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4353307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1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0.25° Daily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100% Basin-Wide 3D Grid</a:t>
              </a:r>
            </a:p>
          </p:txBody>
        </p:sp>
      </p:grpSp>
      <p:sp>
        <p:nvSpPr>
          <p:cNvPr name="AutoShape 28" id="28"/>
          <p:cNvSpPr/>
          <p:nvPr/>
        </p:nvSpPr>
        <p:spPr>
          <a:xfrm>
            <a:off x="10192204" y="2429065"/>
            <a:ext cx="19055" cy="951738"/>
          </a:xfrm>
          <a:prstGeom prst="line">
            <a:avLst/>
          </a:prstGeom>
          <a:ln cap="rnd" w="9525">
            <a:solidFill>
              <a:srgbClr val="C9D6E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13986620" y="2502830"/>
            <a:ext cx="19055" cy="951738"/>
          </a:xfrm>
          <a:prstGeom prst="line">
            <a:avLst/>
          </a:prstGeom>
          <a:ln cap="rnd" w="9525">
            <a:solidFill>
              <a:srgbClr val="C9D6E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568445" y="1696865"/>
            <a:ext cx="3205144" cy="2167373"/>
            <a:chOff x="0" y="0"/>
            <a:chExt cx="4273526" cy="28898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273526" cy="2889830"/>
            </a:xfrm>
            <a:custGeom>
              <a:avLst/>
              <a:gdLst/>
              <a:ahLst/>
              <a:cxnLst/>
              <a:rect r="r" b="b" t="t" l="l"/>
              <a:pathLst>
                <a:path h="2889830" w="4273526">
                  <a:moveTo>
                    <a:pt x="0" y="0"/>
                  </a:moveTo>
                  <a:lnTo>
                    <a:pt x="4273526" y="0"/>
                  </a:lnTo>
                  <a:lnTo>
                    <a:pt x="4273526" y="2889830"/>
                  </a:lnTo>
                  <a:lnTo>
                    <a:pt x="0" y="28898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232" r="-128233" b="4702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4273526" cy="2918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b="1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15 Depths</a:t>
              </a:r>
              <a:r>
                <a:rPr lang="en-US" b="true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Standard INCOIS Layers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From 0m down to 1000m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4550851" y="1674447"/>
            <a:ext cx="2799506" cy="2167373"/>
            <a:chOff x="0" y="0"/>
            <a:chExt cx="3732675" cy="288983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732675" cy="2889830"/>
            </a:xfrm>
            <a:custGeom>
              <a:avLst/>
              <a:gdLst/>
              <a:ahLst/>
              <a:cxnLst/>
              <a:rect r="r" b="b" t="t" l="l"/>
              <a:pathLst>
                <a:path h="2889830" w="3732675">
                  <a:moveTo>
                    <a:pt x="0" y="0"/>
                  </a:moveTo>
                  <a:lnTo>
                    <a:pt x="3732675" y="0"/>
                  </a:lnTo>
                  <a:lnTo>
                    <a:pt x="3732675" y="2889830"/>
                  </a:lnTo>
                  <a:lnTo>
                    <a:pt x="0" y="28898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232" r="-161303" b="4702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28575"/>
              <a:ext cx="3732675" cy="2918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b="1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&lt;45 ms</a:t>
              </a:r>
              <a:r>
                <a:rPr lang="en-US" b="true" sz="360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Real-Time Inference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Vertex AI gRPC Latency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261727" y="3902338"/>
            <a:ext cx="10972800" cy="555402"/>
            <a:chOff x="0" y="0"/>
            <a:chExt cx="14630400" cy="7405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630400" cy="740536"/>
            </a:xfrm>
            <a:custGeom>
              <a:avLst/>
              <a:gdLst/>
              <a:ahLst/>
              <a:cxnLst/>
              <a:rect r="r" b="b" t="t" l="l"/>
              <a:pathLst>
                <a:path h="740536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5565" r="0" b="-33434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4630400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Benefits of the Solution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52202" y="4544323"/>
            <a:ext cx="3676650" cy="2384622"/>
            <a:chOff x="0" y="0"/>
            <a:chExt cx="4902200" cy="317949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902200" cy="3179497"/>
            </a:xfrm>
            <a:custGeom>
              <a:avLst/>
              <a:gdLst/>
              <a:ahLst/>
              <a:cxnLst/>
              <a:rect r="r" b="b" t="t" l="l"/>
              <a:pathLst>
                <a:path h="3179497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3179497"/>
                  </a:lnTo>
                  <a:lnTo>
                    <a:pt x="0" y="3179497"/>
                  </a:lnTo>
                  <a:close/>
                </a:path>
              </a:pathLst>
            </a:custGeom>
            <a:solidFill>
              <a:srgbClr val="F8FAFC"/>
            </a:solidFill>
            <a:ln w="19050" cap="sq">
              <a:solidFill>
                <a:srgbClr val="C9D6E3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52202" y="4544323"/>
            <a:ext cx="3676650" cy="110490"/>
            <a:chOff x="0" y="0"/>
            <a:chExt cx="4902200" cy="1473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902200" cy="147320"/>
            </a:xfrm>
            <a:custGeom>
              <a:avLst/>
              <a:gdLst/>
              <a:ahLst/>
              <a:cxnLst/>
              <a:rect r="r" b="b" t="t" l="l"/>
              <a:pathLst>
                <a:path h="147320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147320"/>
                  </a:lnTo>
                  <a:lnTo>
                    <a:pt x="0" y="147320"/>
                  </a:lnTo>
                  <a:close/>
                </a:path>
              </a:pathLst>
            </a:custGeom>
            <a:solidFill>
              <a:srgbClr val="EFF6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444607" y="5266318"/>
            <a:ext cx="3291840" cy="161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Safer marine operations with 48h cyclone warning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Precise thermocline Potential Fishing Zone advisory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Continuous daily coverage replacing sparse point floats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4092682" y="4544323"/>
            <a:ext cx="3676650" cy="2384622"/>
            <a:chOff x="0" y="0"/>
            <a:chExt cx="4902200" cy="317949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902200" cy="3179497"/>
            </a:xfrm>
            <a:custGeom>
              <a:avLst/>
              <a:gdLst/>
              <a:ahLst/>
              <a:cxnLst/>
              <a:rect r="r" b="b" t="t" l="l"/>
              <a:pathLst>
                <a:path h="3179497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3179497"/>
                  </a:lnTo>
                  <a:lnTo>
                    <a:pt x="0" y="3179497"/>
                  </a:lnTo>
                  <a:close/>
                </a:path>
              </a:pathLst>
            </a:custGeom>
            <a:solidFill>
              <a:srgbClr val="F8FAFC"/>
            </a:solidFill>
            <a:ln w="19050" cap="sq">
              <a:solidFill>
                <a:srgbClr val="C9D6E3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4092682" y="4544323"/>
            <a:ext cx="3676650" cy="110490"/>
            <a:chOff x="0" y="0"/>
            <a:chExt cx="4902200" cy="14732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902200" cy="147320"/>
            </a:xfrm>
            <a:custGeom>
              <a:avLst/>
              <a:gdLst/>
              <a:ahLst/>
              <a:cxnLst/>
              <a:rect r="r" b="b" t="t" l="l"/>
              <a:pathLst>
                <a:path h="147320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147320"/>
                  </a:lnTo>
                  <a:lnTo>
                    <a:pt x="0" y="147320"/>
                  </a:lnTo>
                  <a:close/>
                </a:path>
              </a:pathLst>
            </a:custGeom>
            <a:solidFill>
              <a:srgbClr val="EFF6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48" id="48"/>
          <p:cNvSpPr txBox="true"/>
          <p:nvPr/>
        </p:nvSpPr>
        <p:spPr>
          <a:xfrm rot="0">
            <a:off x="4285087" y="5266318"/>
            <a:ext cx="3291840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30% diesel fuel saved navigating to productive zones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Substantial increase in Catch Per Unit Effort (CPUE)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Prevents fishing fleet losses during rapid storm onset</a:t>
            </a:r>
            <a:r>
              <a:rPr lang="en-US" b="true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7933162" y="4544323"/>
            <a:ext cx="3676650" cy="2384622"/>
            <a:chOff x="0" y="0"/>
            <a:chExt cx="4902200" cy="317949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902200" cy="3179497"/>
            </a:xfrm>
            <a:custGeom>
              <a:avLst/>
              <a:gdLst/>
              <a:ahLst/>
              <a:cxnLst/>
              <a:rect r="r" b="b" t="t" l="l"/>
              <a:pathLst>
                <a:path h="3179497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3179497"/>
                  </a:lnTo>
                  <a:lnTo>
                    <a:pt x="0" y="3179497"/>
                  </a:lnTo>
                  <a:close/>
                </a:path>
              </a:pathLst>
            </a:custGeom>
            <a:solidFill>
              <a:srgbClr val="F8FAFC"/>
            </a:solidFill>
            <a:ln w="19050" cap="sq">
              <a:solidFill>
                <a:srgbClr val="C9D6E3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7933162" y="4544323"/>
            <a:ext cx="3676650" cy="110490"/>
            <a:chOff x="0" y="0"/>
            <a:chExt cx="4902200" cy="147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902200" cy="147320"/>
            </a:xfrm>
            <a:custGeom>
              <a:avLst/>
              <a:gdLst/>
              <a:ahLst/>
              <a:cxnLst/>
              <a:rect r="r" b="b" t="t" l="l"/>
              <a:pathLst>
                <a:path h="147320" w="4902200">
                  <a:moveTo>
                    <a:pt x="0" y="0"/>
                  </a:moveTo>
                  <a:lnTo>
                    <a:pt x="4902200" y="0"/>
                  </a:lnTo>
                  <a:lnTo>
                    <a:pt x="4902200" y="147320"/>
                  </a:lnTo>
                  <a:lnTo>
                    <a:pt x="0" y="147320"/>
                  </a:lnTo>
                  <a:close/>
                </a:path>
              </a:pathLst>
            </a:custGeom>
            <a:solidFill>
              <a:srgbClr val="EFF6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53" id="53"/>
          <p:cNvSpPr txBox="true"/>
          <p:nvPr/>
        </p:nvSpPr>
        <p:spPr>
          <a:xfrm rot="0">
            <a:off x="8125567" y="5266318"/>
            <a:ext cx="3291840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Monitors subsurface Marine Heatwaves (MHWs)</a:t>
            </a:r>
            <a:r>
              <a:rPr lang="en-US" b="true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b="1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Early alerts for coral bleaching in Lakshadweep/Mannar</a:t>
            </a: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l" marL="434340" indent="-217170" lvl="1">
              <a:lnSpc>
                <a:spcPts val="2160"/>
              </a:lnSpc>
              <a:buFont typeface="Arial"/>
              <a:buChar char="•"/>
            </a:pPr>
            <a:r>
              <a:rPr lang="en-US" sz="18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Directly empowers India’s sustainable Blue Economy</a:t>
            </a:r>
            <a:r>
              <a:rPr lang="en-US" b="true" sz="18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266152" y="7186177"/>
            <a:ext cx="11411712" cy="555402"/>
            <a:chOff x="0" y="0"/>
            <a:chExt cx="15215616" cy="74053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5215615" cy="740536"/>
            </a:xfrm>
            <a:custGeom>
              <a:avLst/>
              <a:gdLst/>
              <a:ahLst/>
              <a:cxnLst/>
              <a:rect r="r" b="b" t="t" l="l"/>
              <a:pathLst>
                <a:path h="740536" w="15215615">
                  <a:moveTo>
                    <a:pt x="0" y="0"/>
                  </a:moveTo>
                  <a:lnTo>
                    <a:pt x="15215615" y="0"/>
                  </a:lnTo>
                  <a:lnTo>
                    <a:pt x="15215615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963" r="0" b="-34974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15215616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on the Target Audience</a:t>
              </a:r>
            </a:p>
          </p:txBody>
        </p:sp>
      </p:grpSp>
      <p:sp>
        <p:nvSpPr>
          <p:cNvPr name="AutoShape 57" id="57"/>
          <p:cNvSpPr/>
          <p:nvPr/>
        </p:nvSpPr>
        <p:spPr>
          <a:xfrm>
            <a:off x="765512" y="8417038"/>
            <a:ext cx="7633207" cy="25446"/>
          </a:xfrm>
          <a:prstGeom prst="line">
            <a:avLst/>
          </a:prstGeom>
          <a:ln cap="rnd" w="9525">
            <a:solidFill>
              <a:srgbClr val="C9D6E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8" id="58"/>
          <p:cNvGrpSpPr/>
          <p:nvPr/>
        </p:nvGrpSpPr>
        <p:grpSpPr>
          <a:xfrm rot="0">
            <a:off x="1473160" y="7954273"/>
            <a:ext cx="2505456" cy="475488"/>
            <a:chOff x="0" y="0"/>
            <a:chExt cx="3340608" cy="63398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340608" cy="633984"/>
            </a:xfrm>
            <a:custGeom>
              <a:avLst/>
              <a:gdLst/>
              <a:ahLst/>
              <a:cxnLst/>
              <a:rect r="r" b="b" t="t" l="l"/>
              <a:pathLst>
                <a:path h="633984" w="3340608">
                  <a:moveTo>
                    <a:pt x="0" y="0"/>
                  </a:moveTo>
                  <a:lnTo>
                    <a:pt x="3340608" y="0"/>
                  </a:lnTo>
                  <a:lnTo>
                    <a:pt x="3340608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671" r="0" b="-52671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3340608" cy="6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9DC3E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  IMD &amp; Disaster Mgmt (NDMA)</a:t>
              </a:r>
              <a:r>
                <a:rPr lang="en-US" sz="2199" b="true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77064" y="7954273"/>
            <a:ext cx="2505456" cy="475488"/>
            <a:chOff x="0" y="0"/>
            <a:chExt cx="3340608" cy="63398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340608" cy="633984"/>
            </a:xfrm>
            <a:custGeom>
              <a:avLst/>
              <a:gdLst/>
              <a:ahLst/>
              <a:cxnLst/>
              <a:rect r="r" b="b" t="t" l="l"/>
              <a:pathLst>
                <a:path h="633984" w="3340608">
                  <a:moveTo>
                    <a:pt x="0" y="0"/>
                  </a:moveTo>
                  <a:lnTo>
                    <a:pt x="3340608" y="0"/>
                  </a:lnTo>
                  <a:lnTo>
                    <a:pt x="3340608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671" r="0" b="-52671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3340608" cy="6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9DC3E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  7M Coastal Fisherfolk &amp; INCOIS</a:t>
              </a:r>
              <a:r>
                <a:rPr lang="en-US" sz="2199" b="true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080968" y="7954273"/>
            <a:ext cx="2505456" cy="475488"/>
            <a:chOff x="0" y="0"/>
            <a:chExt cx="3340608" cy="6339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340608" cy="633984"/>
            </a:xfrm>
            <a:custGeom>
              <a:avLst/>
              <a:gdLst/>
              <a:ahLst/>
              <a:cxnLst/>
              <a:rect r="r" b="b" t="t" l="l"/>
              <a:pathLst>
                <a:path h="633984" w="3340608">
                  <a:moveTo>
                    <a:pt x="0" y="0"/>
                  </a:moveTo>
                  <a:lnTo>
                    <a:pt x="3340608" y="0"/>
                  </a:lnTo>
                  <a:lnTo>
                    <a:pt x="3340608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671" r="0" b="-52671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340608" cy="6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9DC3E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  Indian Navy &amp; Coast Guard</a:t>
              </a:r>
              <a:r>
                <a:rPr lang="en-US" sz="2199" b="true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/>
              </a:r>
            </a:p>
          </p:txBody>
        </p:sp>
      </p:grpSp>
      <p:sp>
        <p:nvSpPr>
          <p:cNvPr name="Freeform 67" id="67"/>
          <p:cNvSpPr/>
          <p:nvPr/>
        </p:nvSpPr>
        <p:spPr>
          <a:xfrm flipH="false" flipV="false" rot="0">
            <a:off x="252202" y="7982096"/>
            <a:ext cx="1015883" cy="1015883"/>
          </a:xfrm>
          <a:custGeom>
            <a:avLst/>
            <a:gdLst/>
            <a:ahLst/>
            <a:cxnLst/>
            <a:rect r="r" b="b" t="t" l="l"/>
            <a:pathLst>
              <a:path h="1015883" w="1015883">
                <a:moveTo>
                  <a:pt x="0" y="0"/>
                </a:moveTo>
                <a:lnTo>
                  <a:pt x="1015884" y="0"/>
                </a:lnTo>
                <a:lnTo>
                  <a:pt x="1015884" y="1015883"/>
                </a:lnTo>
                <a:lnTo>
                  <a:pt x="0" y="10158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8" id="68"/>
          <p:cNvSpPr/>
          <p:nvPr/>
        </p:nvSpPr>
        <p:spPr>
          <a:xfrm flipH="false" flipV="false" rot="0">
            <a:off x="4188166" y="8039124"/>
            <a:ext cx="901827" cy="901827"/>
          </a:xfrm>
          <a:custGeom>
            <a:avLst/>
            <a:gdLst/>
            <a:ahLst/>
            <a:cxnLst/>
            <a:rect r="r" b="b" t="t" l="l"/>
            <a:pathLst>
              <a:path h="901827" w="901827">
                <a:moveTo>
                  <a:pt x="0" y="0"/>
                </a:moveTo>
                <a:lnTo>
                  <a:pt x="901827" y="0"/>
                </a:lnTo>
                <a:lnTo>
                  <a:pt x="901827" y="901827"/>
                </a:lnTo>
                <a:lnTo>
                  <a:pt x="0" y="9018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9" id="69"/>
          <p:cNvSpPr/>
          <p:nvPr/>
        </p:nvSpPr>
        <p:spPr>
          <a:xfrm flipH="false" flipV="false" rot="0">
            <a:off x="7992070" y="8039124"/>
            <a:ext cx="959992" cy="959992"/>
          </a:xfrm>
          <a:custGeom>
            <a:avLst/>
            <a:gdLst/>
            <a:ahLst/>
            <a:cxnLst/>
            <a:rect r="r" b="b" t="t" l="l"/>
            <a:pathLst>
              <a:path h="959992" w="959992">
                <a:moveTo>
                  <a:pt x="0" y="0"/>
                </a:moveTo>
                <a:lnTo>
                  <a:pt x="959993" y="0"/>
                </a:lnTo>
                <a:lnTo>
                  <a:pt x="959993" y="959992"/>
                </a:lnTo>
                <a:lnTo>
                  <a:pt x="0" y="9599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0" id="70"/>
          <p:cNvSpPr txBox="true"/>
          <p:nvPr/>
        </p:nvSpPr>
        <p:spPr>
          <a:xfrm rot="0">
            <a:off x="11252363" y="3654688"/>
            <a:ext cx="6835532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  <a:spcBef>
                <a:spcPct val="0"/>
              </a:spcBef>
            </a:pPr>
            <a:r>
              <a:rPr lang="en-US" b="1" sz="1500">
                <a:solidFill>
                  <a:srgbClr val="5959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Sources: INCOIS Marine Bulletins; IMD Cyclone Reports; CMFRI Landings; Copernicus Marine Service.</a:t>
            </a:r>
            <a:r>
              <a:rPr lang="en-US" sz="150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3374450" y="4106173"/>
            <a:ext cx="322897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1" sz="2799">
                <a:solidFill>
                  <a:srgbClr val="0B3D5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Maritime Stakeholder Value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44607" y="4727203"/>
            <a:ext cx="329184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B3D5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Social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4285087" y="4727203"/>
            <a:ext cx="329184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B3D5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Economic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8125567" y="4727203"/>
            <a:ext cx="329184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B3D5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Environmental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473160" y="8447287"/>
            <a:ext cx="2505456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>
                <a:solidFill>
                  <a:srgbClr val="4040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warning of rapid cyclone intensification; protects vulnerable coastal communities in Odisha, AP, WB, Gujarat</a:t>
            </a:r>
            <a:r>
              <a:rPr lang="en-US" sz="1899" b="true">
                <a:solidFill>
                  <a:srgbClr val="40404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</a:p>
          <a:p>
            <a:pPr algn="l">
              <a:lnSpc>
                <a:spcPts val="2279"/>
              </a:lnSpc>
            </a:pPr>
          </a:p>
        </p:txBody>
      </p:sp>
      <p:sp>
        <p:nvSpPr>
          <p:cNvPr name="TextBox 76" id="76"/>
          <p:cNvSpPr txBox="true"/>
          <p:nvPr/>
        </p:nvSpPr>
        <p:spPr>
          <a:xfrm rot="0">
            <a:off x="5277064" y="8447287"/>
            <a:ext cx="2505456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>
                <a:solidFill>
                  <a:srgbClr val="4040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Directs artisanal &amp; mechanized fleets to active thermocline upwelling zones; saves millions in search fuel</a:t>
            </a:r>
            <a:r>
              <a:rPr lang="en-US" sz="1899" b="true">
                <a:solidFill>
                  <a:srgbClr val="40404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  <a:r>
              <a:rPr lang="en-US" sz="1899">
                <a:solidFill>
                  <a:srgbClr val="4040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9080968" y="8447287"/>
            <a:ext cx="2505456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>
                <a:solidFill>
                  <a:srgbClr val="4040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Supplies INCOIS with high-resolution daily 3D assimilation feed; provides Navy with Sound Velocity Profiles (SVP)</a:t>
            </a:r>
            <a:r>
              <a:rPr lang="en-US" sz="1899" b="true">
                <a:solidFill>
                  <a:srgbClr val="40404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/>
            </a:r>
            <a:r>
              <a:rPr lang="en-US" sz="1899">
                <a:solidFill>
                  <a:srgbClr val="40404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12271931" y="7539062"/>
            <a:ext cx="11411712" cy="548640"/>
            <a:chOff x="0" y="0"/>
            <a:chExt cx="15215616" cy="73152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5215615" cy="731520"/>
            </a:xfrm>
            <a:custGeom>
              <a:avLst/>
              <a:gdLst/>
              <a:ahLst/>
              <a:cxnLst/>
              <a:rect r="r" b="b" t="t" l="l"/>
              <a:pathLst>
                <a:path h="731520" w="15215615">
                  <a:moveTo>
                    <a:pt x="0" y="0"/>
                  </a:moveTo>
                  <a:lnTo>
                    <a:pt x="15215615" y="0"/>
                  </a:lnTo>
                  <a:lnTo>
                    <a:pt x="1521561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55006" r="0" b="-355006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2886811" y="7257598"/>
            <a:ext cx="4557840" cy="555784"/>
            <a:chOff x="0" y="0"/>
            <a:chExt cx="6077120" cy="741045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077119" cy="741045"/>
            </a:xfrm>
            <a:custGeom>
              <a:avLst/>
              <a:gdLst/>
              <a:ahLst/>
              <a:cxnLst/>
              <a:rect r="r" b="b" t="t" l="l"/>
              <a:pathLst>
                <a:path h="741045" w="6077119">
                  <a:moveTo>
                    <a:pt x="0" y="0"/>
                  </a:moveTo>
                  <a:lnTo>
                    <a:pt x="6077119" y="0"/>
                  </a:lnTo>
                  <a:lnTo>
                    <a:pt x="6077119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079" r="-150375" b="-350079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19050"/>
              <a:ext cx="607712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Sustainability &amp; Deployment Roadmap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2271931" y="8087702"/>
            <a:ext cx="1691640" cy="384048"/>
            <a:chOff x="0" y="0"/>
            <a:chExt cx="2255520" cy="51206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255520" cy="512064"/>
            </a:xfrm>
            <a:custGeom>
              <a:avLst/>
              <a:gdLst/>
              <a:ahLst/>
              <a:cxnLst/>
              <a:rect r="r" b="b" t="t" l="l"/>
              <a:pathLst>
                <a:path h="512064" w="2255520">
                  <a:moveTo>
                    <a:pt x="0" y="0"/>
                  </a:moveTo>
                  <a:lnTo>
                    <a:pt x="2255520" y="0"/>
                  </a:lnTo>
                  <a:lnTo>
                    <a:pt x="2255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826" r="0" b="-35826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22555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1">
                  <a:solidFill>
                    <a:srgbClr val="2E75B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Next 3 Months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3981859" y="8087702"/>
            <a:ext cx="4434840" cy="384048"/>
            <a:chOff x="0" y="0"/>
            <a:chExt cx="5913120" cy="51206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5913120" cy="512064"/>
            </a:xfrm>
            <a:custGeom>
              <a:avLst/>
              <a:gdLst/>
              <a:ahLst/>
              <a:cxnLst/>
              <a:rect r="r" b="b" t="t" l="l"/>
              <a:pathLst>
                <a:path h="512064" w="5913120">
                  <a:moveTo>
                    <a:pt x="0" y="0"/>
                  </a:moveTo>
                  <a:lnTo>
                    <a:pt x="5913120" y="0"/>
                  </a:lnTo>
                  <a:lnTo>
                    <a:pt x="59131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19050"/>
              <a:ext cx="59131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9595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North Indian Ocean beta model on Vertex AI; INCOIS LAS ARGO continuous validation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2271931" y="8490038"/>
            <a:ext cx="1691640" cy="384048"/>
            <a:chOff x="0" y="0"/>
            <a:chExt cx="2255520" cy="51206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2255520" cy="512064"/>
            </a:xfrm>
            <a:custGeom>
              <a:avLst/>
              <a:gdLst/>
              <a:ahLst/>
              <a:cxnLst/>
              <a:rect r="r" b="b" t="t" l="l"/>
              <a:pathLst>
                <a:path h="512064" w="2255520">
                  <a:moveTo>
                    <a:pt x="0" y="0"/>
                  </a:moveTo>
                  <a:lnTo>
                    <a:pt x="2255520" y="0"/>
                  </a:lnTo>
                  <a:lnTo>
                    <a:pt x="2255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826" r="0" b="-35826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19050"/>
              <a:ext cx="22555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1">
                  <a:solidFill>
                    <a:srgbClr val="2E75B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Year 1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3981859" y="8490038"/>
            <a:ext cx="4434840" cy="384048"/>
            <a:chOff x="0" y="0"/>
            <a:chExt cx="5913120" cy="512064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913120" cy="512064"/>
            </a:xfrm>
            <a:custGeom>
              <a:avLst/>
              <a:gdLst/>
              <a:ahLst/>
              <a:cxnLst/>
              <a:rect r="r" b="b" t="t" l="l"/>
              <a:pathLst>
                <a:path h="512064" w="5913120">
                  <a:moveTo>
                    <a:pt x="0" y="0"/>
                  </a:moveTo>
                  <a:lnTo>
                    <a:pt x="5913120" y="0"/>
                  </a:lnTo>
                  <a:lnTo>
                    <a:pt x="59131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59131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9595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Operational integration with INCOIS SAMUDRA app &amp; IMD cyclone advisory system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271931" y="8892374"/>
            <a:ext cx="1691640" cy="384048"/>
            <a:chOff x="0" y="0"/>
            <a:chExt cx="2255520" cy="51206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255520" cy="512064"/>
            </a:xfrm>
            <a:custGeom>
              <a:avLst/>
              <a:gdLst/>
              <a:ahLst/>
              <a:cxnLst/>
              <a:rect r="r" b="b" t="t" l="l"/>
              <a:pathLst>
                <a:path h="512064" w="2255520">
                  <a:moveTo>
                    <a:pt x="0" y="0"/>
                  </a:moveTo>
                  <a:lnTo>
                    <a:pt x="2255520" y="0"/>
                  </a:lnTo>
                  <a:lnTo>
                    <a:pt x="2255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826" r="0" b="-35826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2555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1">
                  <a:solidFill>
                    <a:srgbClr val="2E75B6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Year 2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3981859" y="8892374"/>
            <a:ext cx="4434840" cy="384048"/>
            <a:chOff x="0" y="0"/>
            <a:chExt cx="5913120" cy="512064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913120" cy="512064"/>
            </a:xfrm>
            <a:custGeom>
              <a:avLst/>
              <a:gdLst/>
              <a:ahLst/>
              <a:cxnLst/>
              <a:rect r="r" b="b" t="t" l="l"/>
              <a:pathLst>
                <a:path h="512064" w="5913120">
                  <a:moveTo>
                    <a:pt x="0" y="0"/>
                  </a:moveTo>
                  <a:lnTo>
                    <a:pt x="5913120" y="0"/>
                  </a:lnTo>
                  <a:lnTo>
                    <a:pt x="59131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19050"/>
              <a:ext cx="59131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9595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Pan-Indian Ocean expansion; addition of BGC-Argo variables (DO, Chlorophyll, pH)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2271931" y="9294710"/>
            <a:ext cx="1691640" cy="384048"/>
            <a:chOff x="0" y="0"/>
            <a:chExt cx="2255520" cy="51206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2255520" cy="512064"/>
            </a:xfrm>
            <a:custGeom>
              <a:avLst/>
              <a:gdLst/>
              <a:ahLst/>
              <a:cxnLst/>
              <a:rect r="r" b="b" t="t" l="l"/>
              <a:pathLst>
                <a:path h="512064" w="2255520">
                  <a:moveTo>
                    <a:pt x="0" y="0"/>
                  </a:moveTo>
                  <a:lnTo>
                    <a:pt x="2255520" y="0"/>
                  </a:lnTo>
                  <a:lnTo>
                    <a:pt x="2255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826" r="0" b="-35826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19050"/>
              <a:ext cx="22555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1">
                  <a:solidFill>
                    <a:srgbClr val="D9661A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Adoption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3981859" y="9294710"/>
            <a:ext cx="4434840" cy="384048"/>
            <a:chOff x="0" y="0"/>
            <a:chExt cx="5913120" cy="51206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913120" cy="512064"/>
            </a:xfrm>
            <a:custGeom>
              <a:avLst/>
              <a:gdLst/>
              <a:ahLst/>
              <a:cxnLst/>
              <a:rect r="r" b="b" t="t" l="l"/>
              <a:pathLst>
                <a:path h="512064" w="5913120">
                  <a:moveTo>
                    <a:pt x="0" y="0"/>
                  </a:moveTo>
                  <a:lnTo>
                    <a:pt x="5913120" y="0"/>
                  </a:lnTo>
                  <a:lnTo>
                    <a:pt x="59131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19050"/>
              <a:ext cx="591312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9595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MoES Deep Ocean Mission &amp; INCOIS national marine forecasting infrastructure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8640" y="182880"/>
            <a:ext cx="1316736" cy="1069848"/>
            <a:chOff x="0" y="0"/>
            <a:chExt cx="1755648" cy="1426464"/>
          </a:xfrm>
        </p:grpSpPr>
        <p:sp>
          <p:nvSpPr>
            <p:cNvPr name="Freeform 3" id="3" descr="orcalogo.png"/>
            <p:cNvSpPr/>
            <p:nvPr/>
          </p:nvSpPr>
          <p:spPr>
            <a:xfrm flipH="false" flipV="false" rot="0">
              <a:off x="0" y="0"/>
              <a:ext cx="1755648" cy="1426464"/>
            </a:xfrm>
            <a:custGeom>
              <a:avLst/>
              <a:gdLst/>
              <a:ahLst/>
              <a:cxnLst/>
              <a:rect r="r" b="b" t="t" l="l"/>
              <a:pathLst>
                <a:path h="1426464" w="1755648">
                  <a:moveTo>
                    <a:pt x="0" y="0"/>
                  </a:moveTo>
                  <a:lnTo>
                    <a:pt x="1755648" y="0"/>
                  </a:lnTo>
                  <a:lnTo>
                    <a:pt x="1755648" y="1426464"/>
                  </a:lnTo>
                  <a:lnTo>
                    <a:pt x="0" y="1426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2" r="0" b="-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270480" y="182880"/>
            <a:ext cx="2468880" cy="1166774"/>
            <a:chOff x="0" y="0"/>
            <a:chExt cx="3291840" cy="1555699"/>
          </a:xfrm>
        </p:grpSpPr>
        <p:sp>
          <p:nvSpPr>
            <p:cNvPr name="Freeform 5" id="5" descr="sihlogo.png"/>
            <p:cNvSpPr/>
            <p:nvPr/>
          </p:nvSpPr>
          <p:spPr>
            <a:xfrm flipH="false" flipV="false" rot="0">
              <a:off x="0" y="0"/>
              <a:ext cx="3291840" cy="1555750"/>
            </a:xfrm>
            <a:custGeom>
              <a:avLst/>
              <a:gdLst/>
              <a:ahLst/>
              <a:cxnLst/>
              <a:rect r="r" b="b" t="t" l="l"/>
              <a:pathLst>
                <a:path h="155575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1555750"/>
                  </a:lnTo>
                  <a:lnTo>
                    <a:pt x="0" y="15557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1" t="0" r="-21" b="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38449" y="202311"/>
            <a:ext cx="12984480" cy="1097280"/>
            <a:chOff x="0" y="0"/>
            <a:chExt cx="17312640" cy="14630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3126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7312640" cy="1491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AND REFERENCES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7007840" y="9838944"/>
            <a:ext cx="731520" cy="448056"/>
            <a:chOff x="0" y="0"/>
            <a:chExt cx="975360" cy="59740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5360" cy="597408"/>
            </a:xfrm>
            <a:custGeom>
              <a:avLst/>
              <a:gdLst/>
              <a:ahLst/>
              <a:cxnLst/>
              <a:rect r="r" b="b" t="t" l="l"/>
              <a:pathLst>
                <a:path h="597408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597408"/>
                  </a:lnTo>
                  <a:lnTo>
                    <a:pt x="0" y="5974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8585" t="0" r="-28585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975360" cy="6164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6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731520" y="1499616"/>
            <a:ext cx="16824960" cy="555402"/>
            <a:chOff x="0" y="0"/>
            <a:chExt cx="22433280" cy="7405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433280" cy="740536"/>
            </a:xfrm>
            <a:custGeom>
              <a:avLst/>
              <a:gdLst/>
              <a:ahLst/>
              <a:cxnLst/>
              <a:rect r="r" b="b" t="t" l="l"/>
              <a:pathLst>
                <a:path h="740536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40875" r="0" b="-53965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22433280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Academic Research Literature &amp; Architecture Mapping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266098" y="1669925"/>
            <a:ext cx="10058400" cy="555402"/>
            <a:chOff x="0" y="0"/>
            <a:chExt cx="13411200" cy="7405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411200" cy="740536"/>
            </a:xfrm>
            <a:custGeom>
              <a:avLst/>
              <a:gdLst/>
              <a:ahLst/>
              <a:cxnLst/>
              <a:rect r="r" b="b" t="t" l="l"/>
              <a:pathLst>
                <a:path h="740536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740536"/>
                  </a:lnTo>
                  <a:lnTo>
                    <a:pt x="0" y="7405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3485" r="0" b="-30226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13411200" cy="759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Official Open-Access Datasets (MoES &amp; INCOIS Mandate)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3019459" y="6177588"/>
            <a:ext cx="4502042" cy="4502042"/>
          </a:xfrm>
          <a:custGeom>
            <a:avLst/>
            <a:gdLst/>
            <a:ahLst/>
            <a:cxnLst/>
            <a:rect r="r" b="b" t="t" l="l"/>
            <a:pathLst>
              <a:path h="4502042" w="4502042">
                <a:moveTo>
                  <a:pt x="0" y="0"/>
                </a:moveTo>
                <a:lnTo>
                  <a:pt x="4502042" y="0"/>
                </a:lnTo>
                <a:lnTo>
                  <a:pt x="4502042" y="4502042"/>
                </a:lnTo>
                <a:lnTo>
                  <a:pt x="0" y="450204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3328042" y="7604442"/>
            <a:ext cx="3547482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  <a:spcBef>
                <a:spcPct val="0"/>
              </a:spcBef>
            </a:pPr>
            <a:r>
              <a:rPr lang="en-US" b="1" sz="2363">
                <a:solidFill>
                  <a:srgbClr val="1565A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Evidence Hierarchy:</a:t>
            </a:r>
          </a:p>
          <a:p>
            <a:pPr algn="ctr">
              <a:lnSpc>
                <a:spcPts val="1999"/>
              </a:lnSpc>
              <a:spcBef>
                <a:spcPct val="0"/>
              </a:spcBef>
            </a:pPr>
            <a:r>
              <a:rPr lang="en-US" sz="16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INCOIS LAS In-Situ ARGO Floats &gt; CMEMS GLORYS12V1 Reanalysis &gt; Theoretical PINN Bounds &gt; Academic Literature.</a:t>
            </a:r>
          </a:p>
        </p:txBody>
      </p:sp>
      <p:graphicFrame>
        <p:nvGraphicFramePr>
          <p:cNvPr name="Table 20" id="20"/>
          <p:cNvGraphicFramePr>
            <a:graphicFrameLocks noGrp="true"/>
          </p:cNvGraphicFramePr>
          <p:nvPr/>
        </p:nvGraphicFramePr>
        <p:xfrm>
          <a:off x="300199" y="2267331"/>
          <a:ext cx="10668479" cy="7230973"/>
        </p:xfrm>
        <a:graphic>
          <a:graphicData uri="http://schemas.openxmlformats.org/drawingml/2006/table">
            <a:tbl>
              <a:tblPr/>
              <a:tblGrid>
                <a:gridCol w="8233283"/>
                <a:gridCol w="2435196"/>
              </a:tblGrid>
              <a:tr h="563976">
                <a:tc>
                  <a:txBody>
                    <a:bodyPr anchor="t" rtlCol="false"/>
                    <a:lstStyle/>
                    <a:p>
                      <a:r>
                        <a:t>Research Publication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54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Incorporated in Our Solution For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54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A"/>
                    </a:solidFill>
                  </a:tcPr>
                </a:tc>
              </a:tr>
              <a:tr h="1117880">
                <a:tc>
                  <a:txBody>
                    <a:bodyPr anchor="t" rtlCol="false"/>
                    <a:lstStyle/>
                    <a:p>
                      <a:r>
                        <a:t>[1] Song et al., 'Convformer: Subsurface T/S Reconstruction,' Remote Sens. 2024, doi:10.3390/rs16132422.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Dual-branch CNN-Transformer embedding engine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89797">
                <a:tc>
                  <a:txBody>
                    <a:bodyPr anchor="t" rtlCol="false"/>
                    <a:lstStyle/>
                    <a:p>
                      <a:r>
                        <a:t>[2] Xiao, Tang, &amp; Li, 'Observation-Guided PINN (OG-PINN),' Hohai Univ., 2026.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Observation-Guided TEOS-10 density loss &amp; stability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89797">
                <a:tc>
                  <a:txBody>
                    <a:bodyPr anchor="t" rtlCol="false"/>
                    <a:lstStyle/>
                    <a:p>
                      <a:r>
                        <a:t>[3] Shao et al., '3D-MOPGCBANN: Physics-Guided ST Predicting,' IEEE TGRS 2025, doi:10.1109/TGRS.2025.4213112.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Pareto-optimal stratification stability (N² ≥ 0)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7809">
                <a:tc>
                  <a:txBody>
                    <a:bodyPr anchor="t" rtlCol="false"/>
                    <a:lstStyle/>
                    <a:p>
                      <a:r>
                        <a:t>[4] Sun et al., 'CSSP-ConvLSTM: Subsurface Temperature Reconstruction,' IEEE TGRS 2026, doi:10.1109/TGRS.2026.4202415.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Spatiotemporal ConvLSTM sequence memory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5821">
                <a:tc>
                  <a:txBody>
                    <a:bodyPr anchor="t" rtlCol="false"/>
                    <a:lstStyle/>
                    <a:p>
                      <a:r>
                        <a:t>[5] Chae, Donohue, &amp; Park, 'TS-Cast: Deep Learning for Subsurface Ocean,' Ocean Sci. 2026, doi:10.5194/os-22-2161-2026.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Uncertainty-aware multi-task loss formulation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35892">
                <a:tc>
                  <a:txBody>
                    <a:bodyPr anchor="t" rtlCol="false"/>
                    <a:lstStyle/>
                    <a:p>
                      <a:r>
                        <a:t>[6] Xie et al., 'Attention U-Net ST Field in SCS,' IEEE TGRS 2022, doi:10.1109/TGRS.2022.4209319.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54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Robust Huber loss &amp; Wind Stress Curl Ekman pumping</a:t>
                      </a:r>
                    </a:p>
                  </a:txBody>
                  <a:tcPr marL="76200" marR="76200" marT="76200" marB="76200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5400">
                      <a:solidFill>
                        <a:srgbClr val="2E75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21" id="21"/>
          <p:cNvSpPr txBox="true"/>
          <p:nvPr/>
        </p:nvSpPr>
        <p:spPr>
          <a:xfrm rot="0">
            <a:off x="11155840" y="2380489"/>
            <a:ext cx="6747586" cy="17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2480" indent="-160827" lvl="2">
              <a:lnSpc>
                <a:spcPts val="2398"/>
              </a:lnSpc>
              <a:buFont typeface="Arial"/>
              <a:buChar char="⚬"/>
            </a:pPr>
            <a:r>
              <a:rPr lang="en-US" sz="1998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7" tooltip="https://www.cmfri.org.in"/>
              </a:rPr>
              <a:t>• SST (OSTIA 0.05° Daily): CMEMS doi:10.48670/moi-00168</a:t>
            </a:r>
          </a:p>
          <a:p>
            <a:pPr algn="l" marL="482480" indent="-160827" lvl="2">
              <a:lnSpc>
                <a:spcPts val="2398"/>
              </a:lnSpc>
              <a:buFont typeface="Arial"/>
              <a:buChar char="⚬"/>
            </a:pPr>
            <a:r>
              <a:rPr lang="en-US" sz="1998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8" tooltip="https://incois.gov.in/portal"/>
              </a:rPr>
              <a:t>• SSS (SMAP/SMOS 0.125° Daily): CMEMS doi:10.48670/moi-00051</a:t>
            </a:r>
          </a:p>
          <a:p>
            <a:pPr algn="l" marL="482480" indent="-160827" lvl="2">
              <a:lnSpc>
                <a:spcPts val="2398"/>
              </a:lnSpc>
              <a:buFont typeface="Arial"/>
              <a:buChar char="⚬"/>
            </a:pPr>
            <a:r>
              <a:rPr lang="en-US" sz="1998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9" tooltip="https://mosdac.gov.in"/>
              </a:rPr>
              <a:t>• SSH/SLA (DUACS 0.25° Daily): CMEMS doi:10.48670/moi-00145</a:t>
            </a:r>
          </a:p>
          <a:p>
            <a:pPr algn="l" marL="482480" indent="-160827" lvl="2">
              <a:lnSpc>
                <a:spcPts val="2398"/>
              </a:lnSpc>
              <a:buFont typeface="Arial"/>
              <a:buChar char="⚬"/>
            </a:pPr>
            <a:r>
              <a:rPr lang="en-US" sz="1998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10" tooltip="https://mausam.imd.gov.in"/>
              </a:rPr>
              <a:t>• Target Reanalysis (GLORYS12V1): CMEMS doi:10.48670/moi-00021</a:t>
            </a:r>
          </a:p>
          <a:p>
            <a:pPr algn="l" marL="482480" indent="-160827" lvl="2">
              <a:lnSpc>
                <a:spcPts val="2398"/>
              </a:lnSpc>
              <a:buFont typeface="Arial"/>
              <a:buChar char="⚬"/>
            </a:pPr>
            <a:r>
              <a:rPr lang="en-US" sz="1998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11" tooltip="https://sachet.ndma.gov.in"/>
              </a:rPr>
              <a:t>• Currents &amp; Winds: NASA PO.DAAC OSCAR_L4 &amp; CCMP_WINDS_V3.1</a:t>
            </a:r>
          </a:p>
          <a:p>
            <a:r>
              <a:t>• In-Situ Ground Truth: INCOIS Live Access Server (LAS) Gridded ARGO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618967" y="5882817"/>
            <a:ext cx="6394713" cy="1130100"/>
            <a:chOff x="0" y="0"/>
            <a:chExt cx="14142720" cy="24993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142720" cy="2499360"/>
            </a:xfrm>
            <a:custGeom>
              <a:avLst/>
              <a:gdLst/>
              <a:ahLst/>
              <a:cxnLst/>
              <a:rect r="r" b="b" t="t" l="l"/>
              <a:pathLst>
                <a:path h="2499360" w="14142720">
                  <a:moveTo>
                    <a:pt x="0" y="0"/>
                  </a:moveTo>
                  <a:lnTo>
                    <a:pt x="14142720" y="0"/>
                  </a:lnTo>
                  <a:lnTo>
                    <a:pt x="14142720" y="2499360"/>
                  </a:lnTo>
                  <a:lnTo>
                    <a:pt x="0" y="2499360"/>
                  </a:lnTo>
                  <a:close/>
                </a:path>
              </a:pathLst>
            </a:custGeom>
            <a:solidFill>
              <a:srgbClr val="FBEDE3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784347" y="5937944"/>
            <a:ext cx="6119079" cy="1019847"/>
            <a:chOff x="0" y="0"/>
            <a:chExt cx="13533120" cy="2255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533120" cy="2255520"/>
            </a:xfrm>
            <a:custGeom>
              <a:avLst/>
              <a:gdLst/>
              <a:ahLst/>
              <a:cxnLst/>
              <a:rect r="r" b="b" t="t" l="l"/>
              <a:pathLst>
                <a:path h="2255520" w="13533120">
                  <a:moveTo>
                    <a:pt x="0" y="0"/>
                  </a:moveTo>
                  <a:lnTo>
                    <a:pt x="13533120" y="0"/>
                  </a:lnTo>
                  <a:lnTo>
                    <a:pt x="13533120" y="2255520"/>
                  </a:lnTo>
                  <a:lnTo>
                    <a:pt x="0" y="2255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13533120" cy="2274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1">
                  <a:solidFill>
                    <a:srgbClr val="D9661A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Future Expansion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262626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Full BGC-Argo biogeochemical parameter reconstruction (DO, Chlorophyll, pH), Pan-Indian Ocean coverage, and direct integration into the INCOIS SAMUDRA mobile app.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464753" y="4361689"/>
            <a:ext cx="4327832" cy="1463444"/>
            <a:chOff x="0" y="0"/>
            <a:chExt cx="5770443" cy="195125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1720314" cy="1619119"/>
              <a:chOff x="0" y="0"/>
              <a:chExt cx="2487168" cy="2340864"/>
            </a:xfrm>
          </p:grpSpPr>
          <p:sp>
            <p:nvSpPr>
              <p:cNvPr name="Freeform 29" id="29" descr="pfz.png"/>
              <p:cNvSpPr/>
              <p:nvPr/>
            </p:nvSpPr>
            <p:spPr>
              <a:xfrm flipH="false" flipV="false" rot="0">
                <a:off x="0" y="0"/>
                <a:ext cx="2487168" cy="2340864"/>
              </a:xfrm>
              <a:custGeom>
                <a:avLst/>
                <a:gdLst/>
                <a:ahLst/>
                <a:cxnLst/>
                <a:rect r="r" b="b" t="t" l="l"/>
                <a:pathLst>
                  <a:path h="2340864" w="2487168">
                    <a:moveTo>
                      <a:pt x="0" y="0"/>
                    </a:moveTo>
                    <a:lnTo>
                      <a:pt x="2487168" y="0"/>
                    </a:lnTo>
                    <a:lnTo>
                      <a:pt x="2487168" y="2340864"/>
                    </a:lnTo>
                    <a:lnTo>
                      <a:pt x="0" y="23408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l="0" t="-117" r="0" b="-118"/>
                </a:stretch>
              </a:blip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2021299" y="0"/>
              <a:ext cx="1720314" cy="1619119"/>
              <a:chOff x="0" y="0"/>
              <a:chExt cx="2487168" cy="2340864"/>
            </a:xfrm>
          </p:grpSpPr>
          <p:sp>
            <p:nvSpPr>
              <p:cNvPr name="Freeform 31" id="31" descr="ocean.png"/>
              <p:cNvSpPr/>
              <p:nvPr/>
            </p:nvSpPr>
            <p:spPr>
              <a:xfrm flipH="false" flipV="false" rot="0">
                <a:off x="0" y="0"/>
                <a:ext cx="2487168" cy="2340864"/>
              </a:xfrm>
              <a:custGeom>
                <a:avLst/>
                <a:gdLst/>
                <a:ahLst/>
                <a:cxnLst/>
                <a:rect r="r" b="b" t="t" l="l"/>
                <a:pathLst>
                  <a:path h="2340864" w="2487168">
                    <a:moveTo>
                      <a:pt x="0" y="0"/>
                    </a:moveTo>
                    <a:lnTo>
                      <a:pt x="2487168" y="0"/>
                    </a:lnTo>
                    <a:lnTo>
                      <a:pt x="2487168" y="2340864"/>
                    </a:lnTo>
                    <a:lnTo>
                      <a:pt x="0" y="23408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l="0" t="-117" r="0" b="-118"/>
                </a:stretch>
              </a:blipFill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4050128" y="0"/>
              <a:ext cx="1720314" cy="1619119"/>
              <a:chOff x="0" y="0"/>
              <a:chExt cx="2487168" cy="2340864"/>
            </a:xfrm>
          </p:grpSpPr>
          <p:sp>
            <p:nvSpPr>
              <p:cNvPr name="Freeform 33" id="33" descr="cyclone.png"/>
              <p:cNvSpPr/>
              <p:nvPr/>
            </p:nvSpPr>
            <p:spPr>
              <a:xfrm flipH="false" flipV="false" rot="0">
                <a:off x="0" y="0"/>
                <a:ext cx="2487168" cy="2340864"/>
              </a:xfrm>
              <a:custGeom>
                <a:avLst/>
                <a:gdLst/>
                <a:ahLst/>
                <a:cxnLst/>
                <a:rect r="r" b="b" t="t" l="l"/>
                <a:pathLst>
                  <a:path h="2340864" w="2487168">
                    <a:moveTo>
                      <a:pt x="0" y="0"/>
                    </a:moveTo>
                    <a:lnTo>
                      <a:pt x="2487168" y="0"/>
                    </a:lnTo>
                    <a:lnTo>
                      <a:pt x="2487168" y="2340864"/>
                    </a:lnTo>
                    <a:lnTo>
                      <a:pt x="0" y="23408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l="0" t="-117" r="0" b="-118"/>
                </a:stretch>
              </a:blipFill>
            </p:spPr>
          </p:sp>
        </p:grpSp>
        <p:sp>
          <p:nvSpPr>
            <p:cNvPr name="TextBox 34" id="34"/>
            <p:cNvSpPr txBox="true"/>
            <p:nvPr/>
          </p:nvSpPr>
          <p:spPr>
            <a:xfrm rot="0">
              <a:off x="2419845" y="1712601"/>
              <a:ext cx="1113738" cy="238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8"/>
                </a:lnSpc>
                <a:spcBef>
                  <a:spcPct val="0"/>
                </a:spcBef>
              </a:pPr>
              <a:r>
                <a:rPr lang="en-US" b="1" sz="1106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Copernicus / PO.DAAC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438400" y="1712601"/>
              <a:ext cx="666398" cy="238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8"/>
                </a:lnSpc>
                <a:spcBef>
                  <a:spcPct val="0"/>
                </a:spcBef>
              </a:pPr>
              <a:r>
                <a:rPr lang="en-US" b="1" sz="1106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INCOIS Ocean Valley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4669858" y="1712601"/>
              <a:ext cx="385081" cy="238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8"/>
                </a:lnSpc>
                <a:spcBef>
                  <a:spcPct val="0"/>
                </a:spcBef>
              </a:pPr>
              <a:r>
                <a:rPr lang="en-US" b="1" sz="1106">
                  <a:solidFill>
                    <a:srgbClr val="0B3D5C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MoES / IMD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DAHWdqcCM1I</dc:identifier>
  <dcterms:modified xsi:type="dcterms:W3CDTF">2011-08-01T06:04:30Z</dcterms:modified>
  <cp:revision>1</cp:revision>
  <dc:title>How we judge evidence? fisher feedback &gt; our test results &gt; domain benchmarks &gt; published papers. Papers show the problem is real; they don’t prove ORCA works.</dc:title>
</cp:coreProperties>
</file>